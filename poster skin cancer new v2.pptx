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601200" cy="12801600" type="A3"/>
  <p:notesSz cx="6858000" cy="9144000"/>
  <p:embeddedFontLst>
    <p:embeddedFont>
      <p:font typeface="Inter" panose="020B0604020202020204" charset="0"/>
      <p:regular r:id="rId4"/>
      <p:bold r:id="rId5"/>
    </p:embeddedFont>
    <p:embeddedFont>
      <p:font typeface="Plus Jakarta Sans"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8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1589" y="-20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font" Target="fonts/font2.fntdata"/><Relationship Id="rId23" Type="http://customschemas.google.com/relationships/presentationmetadata" Target="metadata"/><Relationship Id="rId28" Type="http://schemas.microsoft.com/office/2016/11/relationships/changesInfo" Target="changesInfos/changesInfo1.xml"/><Relationship Id="rId4" Type="http://schemas.openxmlformats.org/officeDocument/2006/relationships/font" Target="fonts/font1.fntdata"/><Relationship Id="rId9" Type="http://schemas.openxmlformats.org/officeDocument/2006/relationships/font" Target="fonts/font6.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na Mutyala" userId="4582fadecbc0433f" providerId="LiveId" clId="{F8355D96-AB86-4FD6-A001-77D7AA79BC35}"/>
    <pc:docChg chg="undo custSel modSld">
      <pc:chgData name="Meghana Mutyala" userId="4582fadecbc0433f" providerId="LiveId" clId="{F8355D96-AB86-4FD6-A001-77D7AA79BC35}" dt="2025-03-27T05:58:23.183" v="185" actId="1076"/>
      <pc:docMkLst>
        <pc:docMk/>
      </pc:docMkLst>
      <pc:sldChg chg="addSp delSp modSp mod">
        <pc:chgData name="Meghana Mutyala" userId="4582fadecbc0433f" providerId="LiveId" clId="{F8355D96-AB86-4FD6-A001-77D7AA79BC35}" dt="2025-03-27T05:58:23.183" v="185" actId="1076"/>
        <pc:sldMkLst>
          <pc:docMk/>
          <pc:sldMk cId="0" sldId="256"/>
        </pc:sldMkLst>
        <pc:spChg chg="mod">
          <ac:chgData name="Meghana Mutyala" userId="4582fadecbc0433f" providerId="LiveId" clId="{F8355D96-AB86-4FD6-A001-77D7AA79BC35}" dt="2025-03-27T05:57:35.151" v="175" actId="1076"/>
          <ac:spMkLst>
            <pc:docMk/>
            <pc:sldMk cId="0" sldId="256"/>
            <ac:spMk id="7" creationId="{D531B664-2A91-F2F8-E8A9-F2C00A3A34CD}"/>
          </ac:spMkLst>
        </pc:spChg>
        <pc:spChg chg="mod">
          <ac:chgData name="Meghana Mutyala" userId="4582fadecbc0433f" providerId="LiveId" clId="{F8355D96-AB86-4FD6-A001-77D7AA79BC35}" dt="2025-03-27T05:58:09.514" v="182" actId="1076"/>
          <ac:spMkLst>
            <pc:docMk/>
            <pc:sldMk cId="0" sldId="256"/>
            <ac:spMk id="8" creationId="{AA0FD7D1-DC00-534A-A08A-2648589F43D6}"/>
          </ac:spMkLst>
        </pc:spChg>
        <pc:spChg chg="mod">
          <ac:chgData name="Meghana Mutyala" userId="4582fadecbc0433f" providerId="LiveId" clId="{F8355D96-AB86-4FD6-A001-77D7AA79BC35}" dt="2025-03-27T05:55:52.313" v="155" actId="1076"/>
          <ac:spMkLst>
            <pc:docMk/>
            <pc:sldMk cId="0" sldId="256"/>
            <ac:spMk id="9" creationId="{53A8D2F5-177F-5785-AFC3-A2EDC9A3C83C}"/>
          </ac:spMkLst>
        </pc:spChg>
        <pc:spChg chg="mod">
          <ac:chgData name="Meghana Mutyala" userId="4582fadecbc0433f" providerId="LiveId" clId="{F8355D96-AB86-4FD6-A001-77D7AA79BC35}" dt="2025-03-27T05:36:16.876" v="60" actId="1076"/>
          <ac:spMkLst>
            <pc:docMk/>
            <pc:sldMk cId="0" sldId="256"/>
            <ac:spMk id="14" creationId="{63D079A6-E7E3-C042-5F17-907B62763667}"/>
          </ac:spMkLst>
        </pc:spChg>
        <pc:spChg chg="mod">
          <ac:chgData name="Meghana Mutyala" userId="4582fadecbc0433f" providerId="LiveId" clId="{F8355D96-AB86-4FD6-A001-77D7AA79BC35}" dt="2025-03-27T05:58:07.467" v="181" actId="14100"/>
          <ac:spMkLst>
            <pc:docMk/>
            <pc:sldMk cId="0" sldId="256"/>
            <ac:spMk id="16" creationId="{9E9A5E9D-0554-E5EC-DACF-B3BB0EAABD36}"/>
          </ac:spMkLst>
        </pc:spChg>
        <pc:spChg chg="mod">
          <ac:chgData name="Meghana Mutyala" userId="4582fadecbc0433f" providerId="LiveId" clId="{F8355D96-AB86-4FD6-A001-77D7AA79BC35}" dt="2025-03-27T05:58:14.499" v="183" actId="1076"/>
          <ac:spMkLst>
            <pc:docMk/>
            <pc:sldMk cId="0" sldId="256"/>
            <ac:spMk id="17" creationId="{C96AE017-038F-C4E1-5D45-046E81A085D9}"/>
          </ac:spMkLst>
        </pc:spChg>
        <pc:spChg chg="mod">
          <ac:chgData name="Meghana Mutyala" userId="4582fadecbc0433f" providerId="LiveId" clId="{F8355D96-AB86-4FD6-A001-77D7AA79BC35}" dt="2025-03-27T05:55:22.303" v="154" actId="255"/>
          <ac:spMkLst>
            <pc:docMk/>
            <pc:sldMk cId="0" sldId="256"/>
            <ac:spMk id="18" creationId="{FF21BF73-FFA0-8430-60AD-60FADFDC878E}"/>
          </ac:spMkLst>
        </pc:spChg>
        <pc:spChg chg="mod">
          <ac:chgData name="Meghana Mutyala" userId="4582fadecbc0433f" providerId="LiveId" clId="{F8355D96-AB86-4FD6-A001-77D7AA79BC35}" dt="2025-03-27T05:57:15.148" v="172" actId="255"/>
          <ac:spMkLst>
            <pc:docMk/>
            <pc:sldMk cId="0" sldId="256"/>
            <ac:spMk id="24" creationId="{F031F25A-496C-E116-B800-8F14C5080261}"/>
          </ac:spMkLst>
        </pc:spChg>
        <pc:spChg chg="del">
          <ac:chgData name="Meghana Mutyala" userId="4582fadecbc0433f" providerId="LiveId" clId="{F8355D96-AB86-4FD6-A001-77D7AA79BC35}" dt="2025-03-27T05:56:14.660" v="161" actId="478"/>
          <ac:spMkLst>
            <pc:docMk/>
            <pc:sldMk cId="0" sldId="256"/>
            <ac:spMk id="27" creationId="{B28191FA-B95A-22DB-43C6-C802DA651967}"/>
          </ac:spMkLst>
        </pc:spChg>
        <pc:spChg chg="del">
          <ac:chgData name="Meghana Mutyala" userId="4582fadecbc0433f" providerId="LiveId" clId="{F8355D96-AB86-4FD6-A001-77D7AA79BC35}" dt="2025-03-27T05:56:17.041" v="162" actId="478"/>
          <ac:spMkLst>
            <pc:docMk/>
            <pc:sldMk cId="0" sldId="256"/>
            <ac:spMk id="29" creationId="{7136FD02-3482-52A4-1615-3C6B219C23F8}"/>
          </ac:spMkLst>
        </pc:spChg>
        <pc:spChg chg="add del">
          <ac:chgData name="Meghana Mutyala" userId="4582fadecbc0433f" providerId="LiveId" clId="{F8355D96-AB86-4FD6-A001-77D7AA79BC35}" dt="2025-03-27T05:33:26.468" v="38" actId="478"/>
          <ac:spMkLst>
            <pc:docMk/>
            <pc:sldMk cId="0" sldId="256"/>
            <ac:spMk id="31" creationId="{270161E5-972F-E92D-DEB0-7E6432CE3F57}"/>
          </ac:spMkLst>
        </pc:spChg>
        <pc:spChg chg="add del mod">
          <ac:chgData name="Meghana Mutyala" userId="4582fadecbc0433f" providerId="LiveId" clId="{F8355D96-AB86-4FD6-A001-77D7AA79BC35}" dt="2025-03-27T05:57:24.922" v="173" actId="1076"/>
          <ac:spMkLst>
            <pc:docMk/>
            <pc:sldMk cId="0" sldId="256"/>
            <ac:spMk id="34" creationId="{C87E133E-A202-21D3-F2D8-AD5B1C09764E}"/>
          </ac:spMkLst>
        </pc:spChg>
        <pc:spChg chg="add mod">
          <ac:chgData name="Meghana Mutyala" userId="4582fadecbc0433f" providerId="LiveId" clId="{F8355D96-AB86-4FD6-A001-77D7AA79BC35}" dt="2025-03-27T05:58:02.871" v="180" actId="1076"/>
          <ac:spMkLst>
            <pc:docMk/>
            <pc:sldMk cId="0" sldId="256"/>
            <ac:spMk id="41" creationId="{045F3CC9-33FA-B373-1742-BD930631C5FF}"/>
          </ac:spMkLst>
        </pc:spChg>
        <pc:spChg chg="del">
          <ac:chgData name="Meghana Mutyala" userId="4582fadecbc0433f" providerId="LiveId" clId="{F8355D96-AB86-4FD6-A001-77D7AA79BC35}" dt="2025-03-27T05:54:41.305" v="151" actId="478"/>
          <ac:spMkLst>
            <pc:docMk/>
            <pc:sldMk cId="0" sldId="256"/>
            <ac:spMk id="50" creationId="{8426708E-6DE4-4E01-D29A-E14E1CFFF214}"/>
          </ac:spMkLst>
        </pc:spChg>
        <pc:spChg chg="add mod">
          <ac:chgData name="Meghana Mutyala" userId="4582fadecbc0433f" providerId="LiveId" clId="{F8355D96-AB86-4FD6-A001-77D7AA79BC35}" dt="2025-03-27T05:57:53.827" v="178" actId="1076"/>
          <ac:spMkLst>
            <pc:docMk/>
            <pc:sldMk cId="0" sldId="256"/>
            <ac:spMk id="51" creationId="{7D8C1D11-3BA2-3DAF-DEBB-15A1BB7A9090}"/>
          </ac:spMkLst>
        </pc:spChg>
        <pc:spChg chg="mod">
          <ac:chgData name="Meghana Mutyala" userId="4582fadecbc0433f" providerId="LiveId" clId="{F8355D96-AB86-4FD6-A001-77D7AA79BC35}" dt="2025-03-27T05:33:06.405" v="26" actId="6549"/>
          <ac:spMkLst>
            <pc:docMk/>
            <pc:sldMk cId="0" sldId="256"/>
            <ac:spMk id="52" creationId="{57E0B562-B3AA-9C63-F759-D6D72E9F81EB}"/>
          </ac:spMkLst>
        </pc:spChg>
        <pc:spChg chg="del">
          <ac:chgData name="Meghana Mutyala" userId="4582fadecbc0433f" providerId="LiveId" clId="{F8355D96-AB86-4FD6-A001-77D7AA79BC35}" dt="2025-03-27T05:35:44.530" v="52" actId="478"/>
          <ac:spMkLst>
            <pc:docMk/>
            <pc:sldMk cId="0" sldId="256"/>
            <ac:spMk id="58" creationId="{B910137A-9B2D-44EE-D723-B2D97FBE3A1D}"/>
          </ac:spMkLst>
        </pc:spChg>
        <pc:spChg chg="del">
          <ac:chgData name="Meghana Mutyala" userId="4582fadecbc0433f" providerId="LiveId" clId="{F8355D96-AB86-4FD6-A001-77D7AA79BC35}" dt="2025-03-27T05:35:40.130" v="50" actId="478"/>
          <ac:spMkLst>
            <pc:docMk/>
            <pc:sldMk cId="0" sldId="256"/>
            <ac:spMk id="59" creationId="{915EDC2E-21E3-62BC-4835-812675A782B9}"/>
          </ac:spMkLst>
        </pc:spChg>
        <pc:spChg chg="del mod">
          <ac:chgData name="Meghana Mutyala" userId="4582fadecbc0433f" providerId="LiveId" clId="{F8355D96-AB86-4FD6-A001-77D7AA79BC35}" dt="2025-03-27T05:56:06.190" v="159" actId="478"/>
          <ac:spMkLst>
            <pc:docMk/>
            <pc:sldMk cId="0" sldId="256"/>
            <ac:spMk id="62" creationId="{DBDD8AD6-D242-E9FE-920F-C42932459F2F}"/>
          </ac:spMkLst>
        </pc:spChg>
        <pc:graphicFrameChg chg="mod modGraphic">
          <ac:chgData name="Meghana Mutyala" userId="4582fadecbc0433f" providerId="LiveId" clId="{F8355D96-AB86-4FD6-A001-77D7AA79BC35}" dt="2025-03-27T05:58:23.183" v="185" actId="1076"/>
          <ac:graphicFrameMkLst>
            <pc:docMk/>
            <pc:sldMk cId="0" sldId="256"/>
            <ac:graphicFrameMk id="26" creationId="{859B75CE-CE42-19A8-F6A3-F9A42E517E2A}"/>
          </ac:graphicFrameMkLst>
        </pc:graphicFrameChg>
        <pc:graphicFrameChg chg="add mod modGraphic">
          <ac:chgData name="Meghana Mutyala" userId="4582fadecbc0433f" providerId="LiveId" clId="{F8355D96-AB86-4FD6-A001-77D7AA79BC35}" dt="2025-03-27T05:57:57.886" v="179" actId="1076"/>
          <ac:graphicFrameMkLst>
            <pc:docMk/>
            <pc:sldMk cId="0" sldId="256"/>
            <ac:graphicFrameMk id="32" creationId="{C9C9CDF6-BA6F-8DD4-C8FC-3D13E4BB7639}"/>
          </ac:graphicFrameMkLst>
        </pc:graphicFrameChg>
        <pc:picChg chg="mod">
          <ac:chgData name="Meghana Mutyala" userId="4582fadecbc0433f" providerId="LiveId" clId="{F8355D96-AB86-4FD6-A001-77D7AA79BC35}" dt="2025-03-27T05:56:11.471" v="160" actId="1076"/>
          <ac:picMkLst>
            <pc:docMk/>
            <pc:sldMk cId="0" sldId="256"/>
            <ac:picMk id="21" creationId="{58A72348-86E7-03A1-CA62-1BC2D3963E9F}"/>
          </ac:picMkLst>
        </pc:picChg>
        <pc:picChg chg="add mod">
          <ac:chgData name="Meghana Mutyala" userId="4582fadecbc0433f" providerId="LiveId" clId="{F8355D96-AB86-4FD6-A001-77D7AA79BC35}" dt="2025-03-27T05:57:29.765" v="174" actId="14100"/>
          <ac:picMkLst>
            <pc:docMk/>
            <pc:sldMk cId="0" sldId="256"/>
            <ac:picMk id="22" creationId="{4C7F6489-B9CD-E555-18FC-F03058115835}"/>
          </ac:picMkLst>
        </pc:picChg>
        <pc:picChg chg="add del">
          <ac:chgData name="Meghana Mutyala" userId="4582fadecbc0433f" providerId="LiveId" clId="{F8355D96-AB86-4FD6-A001-77D7AA79BC35}" dt="2025-03-27T05:33:28.566" v="39" actId="478"/>
          <ac:picMkLst>
            <pc:docMk/>
            <pc:sldMk cId="0" sldId="256"/>
            <ac:picMk id="23" creationId="{736E3EA9-EA77-B718-1F30-089B6B2F25FF}"/>
          </ac:picMkLst>
        </pc:picChg>
        <pc:picChg chg="del">
          <ac:chgData name="Meghana Mutyala" userId="4582fadecbc0433f" providerId="LiveId" clId="{F8355D96-AB86-4FD6-A001-77D7AA79BC35}" dt="2025-03-27T05:35:42.241" v="51" actId="478"/>
          <ac:picMkLst>
            <pc:docMk/>
            <pc:sldMk cId="0" sldId="256"/>
            <ac:picMk id="30" creationId="{ED3BF434-37B7-AE6C-0C9D-D1ECBA3668DE}"/>
          </ac:picMkLst>
        </pc:picChg>
        <pc:picChg chg="del">
          <ac:chgData name="Meghana Mutyala" userId="4582fadecbc0433f" providerId="LiveId" clId="{F8355D96-AB86-4FD6-A001-77D7AA79BC35}" dt="2025-03-27T05:35:46.322" v="53" actId="478"/>
          <ac:picMkLst>
            <pc:docMk/>
            <pc:sldMk cId="0" sldId="256"/>
            <ac:picMk id="33" creationId="{A264906C-A4DC-15B6-3FEF-702FDE47CB7E}"/>
          </ac:picMkLst>
        </pc:picChg>
        <pc:picChg chg="del">
          <ac:chgData name="Meghana Mutyala" userId="4582fadecbc0433f" providerId="LiveId" clId="{F8355D96-AB86-4FD6-A001-77D7AA79BC35}" dt="2025-03-27T05:33:30.791" v="40" actId="478"/>
          <ac:picMkLst>
            <pc:docMk/>
            <pc:sldMk cId="0" sldId="256"/>
            <ac:picMk id="35" creationId="{6336DE8D-2529-6C11-068E-E25521AD1FD8}"/>
          </ac:picMkLst>
        </pc:picChg>
        <pc:picChg chg="del mod">
          <ac:chgData name="Meghana Mutyala" userId="4582fadecbc0433f" providerId="LiveId" clId="{F8355D96-AB86-4FD6-A001-77D7AA79BC35}" dt="2025-03-27T05:33:24.581" v="37" actId="478"/>
          <ac:picMkLst>
            <pc:docMk/>
            <pc:sldMk cId="0" sldId="256"/>
            <ac:picMk id="45" creationId="{CCBACA01-9D6E-FB9B-A7C2-14D52E6A75B6}"/>
          </ac:picMkLst>
        </pc:picChg>
      </pc:sldChg>
    </pc:docChg>
  </pc:docChgLst>
  <pc:docChgLst>
    <pc:chgData name="Meghana Mutyala" userId="4582fadecbc0433f" providerId="LiveId" clId="{53C19243-D43C-4D1D-B6E1-C718AE3BA015}"/>
    <pc:docChg chg="undo custSel modSld">
      <pc:chgData name="Meghana Mutyala" userId="4582fadecbc0433f" providerId="LiveId" clId="{53C19243-D43C-4D1D-B6E1-C718AE3BA015}" dt="2024-11-27T16:29:59.070" v="625" actId="14100"/>
      <pc:docMkLst>
        <pc:docMk/>
      </pc:docMkLst>
      <pc:sldChg chg="addSp delSp modSp mod">
        <pc:chgData name="Meghana Mutyala" userId="4582fadecbc0433f" providerId="LiveId" clId="{53C19243-D43C-4D1D-B6E1-C718AE3BA015}" dt="2024-11-27T16:29:59.070" v="625" actId="14100"/>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032" userDrawn="1">
          <p15:clr>
            <a:srgbClr val="FBAE40"/>
          </p15:clr>
        </p15:guide>
        <p15:guide id="2"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1"/>
            <a:ext cx="7635954" cy="9088544"/>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4"/>
        <p:cNvGrpSpPr/>
        <p:nvPr/>
      </p:nvGrpSpPr>
      <p:grpSpPr>
        <a:xfrm>
          <a:off x="0" y="0"/>
          <a:ext cx="0" cy="0"/>
          <a:chOff x="0" y="0"/>
          <a:chExt cx="0" cy="0"/>
        </a:xfrm>
      </p:grpSpPr>
      <p:sp>
        <p:nvSpPr>
          <p:cNvPr id="25" name="Google Shape;25;p16"/>
          <p:cNvSpPr/>
          <p:nvPr/>
        </p:nvSpPr>
        <p:spPr>
          <a:xfrm>
            <a:off x="4800600" y="7005853"/>
            <a:ext cx="4800600" cy="4770437"/>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67898" tIns="33940" rIns="67898" bIns="33940" anchor="ctr" anchorCtr="0">
            <a:noAutofit/>
          </a:bodyPr>
          <a:lstStyle/>
          <a:p>
            <a:pPr marL="0" marR="0" lvl="0" indent="0" algn="ctr" rtl="0">
              <a:spcBef>
                <a:spcPts val="0"/>
              </a:spcBef>
              <a:spcAft>
                <a:spcPts val="0"/>
              </a:spcAft>
              <a:buNone/>
            </a:pPr>
            <a:endParaRPr sz="1337">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5368171" y="2367706"/>
            <a:ext cx="1875056" cy="5556945"/>
          </a:xfrm>
          <a:prstGeom prst="rect">
            <a:avLst/>
          </a:prstGeom>
          <a:solidFill>
            <a:srgbClr val="F2F2F2"/>
          </a:solidFill>
          <a:ln>
            <a:noFill/>
          </a:ln>
        </p:spPr>
      </p:sp>
      <p:sp>
        <p:nvSpPr>
          <p:cNvPr id="27" name="Google Shape;27;p16"/>
          <p:cNvSpPr>
            <a:spLocks noGrp="1"/>
          </p:cNvSpPr>
          <p:nvPr>
            <p:ph type="pic" idx="3"/>
          </p:nvPr>
        </p:nvSpPr>
        <p:spPr>
          <a:xfrm>
            <a:off x="7462362" y="2367706"/>
            <a:ext cx="1875056" cy="555694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1025314"/>
            <a:ext cx="3933627" cy="10750973"/>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4800601" y="2370669"/>
            <a:ext cx="4800601" cy="806323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4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032" userDrawn="1">
          <p15:clr>
            <a:srgbClr val="A4A3A4"/>
          </p15:clr>
        </p15:guide>
        <p15:guide id="2" pos="3024" userDrawn="1">
          <p15:clr>
            <a:srgbClr val="A4A3A4"/>
          </p15:clr>
        </p15:guide>
        <p15:guide id="3" orient="horz" pos="1491" userDrawn="1">
          <p15:clr>
            <a:srgbClr val="A4A3A4"/>
          </p15:clr>
        </p15:guide>
        <p15:guide id="4" orient="horz" pos="646" userDrawn="1">
          <p15:clr>
            <a:srgbClr val="A4A3A4"/>
          </p15:clr>
        </p15:guide>
        <p15:guide id="5" orient="horz" pos="2339" userDrawn="1">
          <p15:clr>
            <a:srgbClr val="A4A3A4"/>
          </p15:clr>
        </p15:guide>
        <p15:guide id="6" orient="horz" pos="3185" userDrawn="1">
          <p15:clr>
            <a:srgbClr val="A4A3A4"/>
          </p15:clr>
        </p15:guide>
        <p15:guide id="7" orient="horz" pos="4879" userDrawn="1">
          <p15:clr>
            <a:srgbClr val="A4A3A4"/>
          </p15:clr>
        </p15:guide>
        <p15:guide id="8" orient="horz" pos="5725" userDrawn="1">
          <p15:clr>
            <a:srgbClr val="A4A3A4"/>
          </p15:clr>
        </p15:guide>
        <p15:guide id="9" orient="horz" pos="6573" userDrawn="1">
          <p15:clr>
            <a:srgbClr val="A4A3A4"/>
          </p15:clr>
        </p15:guide>
        <p15:guide id="10" orient="horz" pos="7418" userDrawn="1">
          <p15:clr>
            <a:srgbClr val="A4A3A4"/>
          </p15:clr>
        </p15:guide>
        <p15:guide id="11" pos="3382" userDrawn="1">
          <p15:clr>
            <a:srgbClr val="A4A3A4"/>
          </p15:clr>
        </p15:guide>
        <p15:guide id="12" pos="3738" userDrawn="1">
          <p15:clr>
            <a:srgbClr val="A4A3A4"/>
          </p15:clr>
        </p15:guide>
        <p15:guide id="13" pos="166" userDrawn="1">
          <p15:clr>
            <a:srgbClr val="A4A3A4"/>
          </p15:clr>
        </p15:guide>
        <p15:guide id="14" pos="524" userDrawn="1">
          <p15:clr>
            <a:srgbClr val="A4A3A4"/>
          </p15:clr>
        </p15:guide>
        <p15:guide id="15" pos="880" userDrawn="1">
          <p15:clr>
            <a:srgbClr val="A4A3A4"/>
          </p15:clr>
        </p15:guide>
        <p15:guide id="16" pos="1238" userDrawn="1">
          <p15:clr>
            <a:srgbClr val="A4A3A4"/>
          </p15:clr>
        </p15:guide>
        <p15:guide id="17" pos="1595" userDrawn="1">
          <p15:clr>
            <a:srgbClr val="A4A3A4"/>
          </p15:clr>
        </p15:guide>
        <p15:guide id="18" pos="1952" userDrawn="1">
          <p15:clr>
            <a:srgbClr val="A4A3A4"/>
          </p15:clr>
        </p15:guide>
        <p15:guide id="19" pos="2310" userDrawn="1">
          <p15:clr>
            <a:srgbClr val="A4A3A4"/>
          </p15:clr>
        </p15:guide>
        <p15:guide id="20" pos="2666" userDrawn="1">
          <p15:clr>
            <a:srgbClr val="A4A3A4"/>
          </p15:clr>
        </p15:guide>
        <p15:guide id="21" pos="4096" userDrawn="1">
          <p15:clr>
            <a:srgbClr val="A4A3A4"/>
          </p15:clr>
        </p15:guide>
        <p15:guide id="22" pos="4453" userDrawn="1">
          <p15:clr>
            <a:srgbClr val="A4A3A4"/>
          </p15:clr>
        </p15:guide>
        <p15:guide id="23" pos="4810" userDrawn="1">
          <p15:clr>
            <a:srgbClr val="A4A3A4"/>
          </p15:clr>
        </p15:guide>
        <p15:guide id="24" pos="5168" userDrawn="1">
          <p15:clr>
            <a:srgbClr val="A4A3A4"/>
          </p15:clr>
        </p15:guide>
        <p15:guide id="25" pos="5524" userDrawn="1">
          <p15:clr>
            <a:srgbClr val="A4A3A4"/>
          </p15:clr>
        </p15:guide>
        <p15:guide id="26" pos="5882" userDrawn="1">
          <p15:clr>
            <a:srgbClr val="A4A3A4"/>
          </p15:clr>
        </p15:guide>
        <p15:guide id="27" pos="273" userDrawn="1">
          <p15:clr>
            <a:srgbClr val="F26B43"/>
          </p15:clr>
        </p15:guide>
        <p15:guide id="28" pos="577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hyperlink" Target="https://www.kaggle.com/competitions/isic-2024-challenge/overview" TargetMode="External"/><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6.jpg"/><Relationship Id="rId5" Type="http://schemas.openxmlformats.org/officeDocument/2006/relationships/hyperlink" Target="https://doi.org/10.34970/2024-slice-3d" TargetMode="External"/><Relationship Id="rId10" Type="http://schemas.openxmlformats.org/officeDocument/2006/relationships/image" Target="../media/image5.jpg"/><Relationship Id="rId4" Type="http://schemas.openxmlformats.org/officeDocument/2006/relationships/hyperlink" Target="https://doi.org/10.1016/j.compbiomed.2020.104065" TargetMode="External"/><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83007" y="196746"/>
            <a:ext cx="7288689" cy="474936"/>
          </a:xfrm>
          <a:prstGeom prst="rect">
            <a:avLst/>
          </a:prstGeom>
          <a:noFill/>
          <a:ln>
            <a:noFill/>
          </a:ln>
        </p:spPr>
        <p:txBody>
          <a:bodyPr spcFirstLastPara="1" wrap="square" lIns="67898" tIns="33940" rIns="67898" bIns="33940" anchor="t" anchorCtr="0">
            <a:spAutoFit/>
          </a:bodyPr>
          <a:lstStyle/>
          <a:p>
            <a:r>
              <a:rPr lang="en-US" sz="2641" b="1" dirty="0">
                <a:solidFill>
                  <a:srgbClr val="007069"/>
                </a:solidFill>
                <a:latin typeface="Inter"/>
                <a:ea typeface="Inter"/>
                <a:cs typeface="Inter"/>
                <a:sym typeface="Inter"/>
              </a:rPr>
              <a:t>Skin Cancer Detection for </a:t>
            </a:r>
            <a:r>
              <a:rPr lang="en-US" sz="2641" b="1" dirty="0">
                <a:solidFill>
                  <a:srgbClr val="A58255"/>
                </a:solidFill>
                <a:latin typeface="Inter"/>
                <a:ea typeface="Inter"/>
                <a:cs typeface="Inter"/>
                <a:sym typeface="Inter"/>
              </a:rPr>
              <a:t>Telehealth</a:t>
            </a:r>
            <a:endParaRPr sz="943" dirty="0">
              <a:latin typeface="Inter"/>
              <a:ea typeface="Inter"/>
              <a:cs typeface="Inter"/>
              <a:sym typeface="Inter"/>
            </a:endParaRPr>
          </a:p>
        </p:txBody>
      </p:sp>
      <p:grpSp>
        <p:nvGrpSpPr>
          <p:cNvPr id="37" name="Google Shape;37;p1"/>
          <p:cNvGrpSpPr/>
          <p:nvPr/>
        </p:nvGrpSpPr>
        <p:grpSpPr>
          <a:xfrm>
            <a:off x="517680" y="138135"/>
            <a:ext cx="6130257" cy="549853"/>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67898" tIns="33940" rIns="67898" bIns="33940" anchor="ctr" anchorCtr="0">
              <a:noAutofit/>
            </a:bodyPr>
            <a:lstStyle/>
            <a:p>
              <a:pPr algn="ctr"/>
              <a:endParaRPr sz="1337">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67898" tIns="33940" rIns="67898" bIns="33940" anchor="ctr" anchorCtr="0">
              <a:noAutofit/>
            </a:bodyPr>
            <a:lstStyle/>
            <a:p>
              <a:pPr algn="ctr"/>
              <a:endParaRPr sz="1337">
                <a:solidFill>
                  <a:schemeClr val="lt1"/>
                </a:solidFill>
                <a:latin typeface="Inter"/>
                <a:ea typeface="Inter"/>
                <a:cs typeface="Inter"/>
                <a:sym typeface="Inter"/>
              </a:endParaRPr>
            </a:p>
          </p:txBody>
        </p:sp>
      </p:grpSp>
      <p:sp>
        <p:nvSpPr>
          <p:cNvPr id="40" name="Google Shape;40;p1"/>
          <p:cNvSpPr txBox="1"/>
          <p:nvPr/>
        </p:nvSpPr>
        <p:spPr>
          <a:xfrm>
            <a:off x="454904" y="742659"/>
            <a:ext cx="9216985" cy="412611"/>
          </a:xfrm>
          <a:prstGeom prst="rect">
            <a:avLst/>
          </a:prstGeom>
          <a:noFill/>
          <a:ln>
            <a:noFill/>
          </a:ln>
        </p:spPr>
        <p:txBody>
          <a:bodyPr spcFirstLastPara="1" wrap="square" lIns="67898" tIns="33940" rIns="67898" bIns="33940" anchor="t" anchorCtr="0">
            <a:spAutoFit/>
          </a:bodyPr>
          <a:lstStyle/>
          <a:p>
            <a:r>
              <a:rPr lang="en-US" sz="1196" dirty="0">
                <a:solidFill>
                  <a:srgbClr val="004740"/>
                </a:solidFill>
                <a:latin typeface="Inter"/>
                <a:ea typeface="Inter"/>
                <a:cs typeface="Inter"/>
                <a:sym typeface="Inter"/>
              </a:rPr>
              <a:t>Presenter Names: Akash-0043 ,Pravallika-0048, Meghana-0180, Chandhan-2163</a:t>
            </a:r>
          </a:p>
          <a:p>
            <a:endParaRPr lang="en-US" sz="1040" dirty="0">
              <a:latin typeface="Inter"/>
              <a:ea typeface="Inter"/>
              <a:cs typeface="Inter"/>
              <a:sym typeface="Inter"/>
            </a:endParaRPr>
          </a:p>
        </p:txBody>
      </p:sp>
      <p:sp>
        <p:nvSpPr>
          <p:cNvPr id="10" name="Google Shape;10;p6"/>
          <p:cNvSpPr txBox="1"/>
          <p:nvPr/>
        </p:nvSpPr>
        <p:spPr>
          <a:xfrm>
            <a:off x="473022" y="12585780"/>
            <a:ext cx="3894873" cy="215827"/>
          </a:xfrm>
          <a:prstGeom prst="rect">
            <a:avLst/>
          </a:prstGeom>
          <a:noFill/>
          <a:ln>
            <a:noFill/>
          </a:ln>
        </p:spPr>
        <p:txBody>
          <a:bodyPr spcFirstLastPara="1" wrap="square" lIns="67898" tIns="33940" rIns="67898" bIns="33940" anchor="t" anchorCtr="0">
            <a:spAutoFit/>
          </a:bodyPr>
          <a:lstStyle/>
          <a:p>
            <a:pPr>
              <a:buClr>
                <a:srgbClr val="7F7F7F"/>
              </a:buClr>
              <a:buSzPts val="1800"/>
            </a:pPr>
            <a:r>
              <a:rPr lang="en-US" sz="957" dirty="0">
                <a:solidFill>
                  <a:srgbClr val="7F7F7F"/>
                </a:solidFill>
                <a:latin typeface="Inter" panose="020B0604020202020204" charset="0"/>
                <a:ea typeface="Inter" panose="020B0604020202020204" charset="0"/>
                <a:cs typeface="Open Sans"/>
                <a:sym typeface="Open Sans"/>
              </a:rPr>
              <a:t>Computer Science and Engineering, GST, VSP</a:t>
            </a:r>
            <a:endParaRPr sz="957" dirty="0">
              <a:solidFill>
                <a:srgbClr val="7F7F7F"/>
              </a:solidFill>
              <a:latin typeface="Inter" panose="020B0604020202020204" charset="0"/>
              <a:ea typeface="Inter" panose="020B0604020202020204" charset="0"/>
              <a:cs typeface="Open Sans"/>
              <a:sym typeface="Open Sans"/>
            </a:endParaRPr>
          </a:p>
        </p:txBody>
      </p:sp>
      <p:pic>
        <p:nvPicPr>
          <p:cNvPr id="11" name="Google Shape;11;p6"/>
          <p:cNvPicPr preferRelativeResize="0"/>
          <p:nvPr/>
        </p:nvPicPr>
        <p:blipFill rotWithShape="1">
          <a:blip r:embed="rId3">
            <a:alphaModFix/>
          </a:blip>
          <a:srcRect/>
          <a:stretch/>
        </p:blipFill>
        <p:spPr>
          <a:xfrm>
            <a:off x="6993367" y="175732"/>
            <a:ext cx="2050315" cy="857550"/>
          </a:xfrm>
          <a:prstGeom prst="rect">
            <a:avLst/>
          </a:prstGeom>
          <a:noFill/>
          <a:ln>
            <a:noFill/>
          </a:ln>
        </p:spPr>
      </p:pic>
      <p:sp>
        <p:nvSpPr>
          <p:cNvPr id="2" name="Google Shape;40;p1">
            <a:extLst>
              <a:ext uri="{FF2B5EF4-FFF2-40B4-BE49-F238E27FC236}">
                <a16:creationId xmlns:a16="http://schemas.microsoft.com/office/drawing/2014/main" id="{67B14CDF-2335-5CC7-06B9-A671E2CD1B3D}"/>
              </a:ext>
            </a:extLst>
          </p:cNvPr>
          <p:cNvSpPr txBox="1"/>
          <p:nvPr/>
        </p:nvSpPr>
        <p:spPr>
          <a:xfrm>
            <a:off x="436204" y="997152"/>
            <a:ext cx="7538510" cy="252568"/>
          </a:xfrm>
          <a:prstGeom prst="rect">
            <a:avLst/>
          </a:prstGeom>
          <a:noFill/>
          <a:ln>
            <a:noFill/>
          </a:ln>
        </p:spPr>
        <p:txBody>
          <a:bodyPr spcFirstLastPara="1" wrap="square" lIns="67898" tIns="33940" rIns="67898" bIns="33940" anchor="t" anchorCtr="0">
            <a:spAutoFit/>
          </a:bodyPr>
          <a:lstStyle/>
          <a:p>
            <a:r>
              <a:rPr lang="en-US" sz="1196" dirty="0">
                <a:solidFill>
                  <a:srgbClr val="004740"/>
                </a:solidFill>
                <a:latin typeface="Inter"/>
                <a:ea typeface="Inter"/>
                <a:cs typeface="Inter"/>
                <a:sym typeface="Inter"/>
              </a:rPr>
              <a:t>Guide Name: Dr. Venkata Ramana Murthy Oruganti (Associate Professor)</a:t>
            </a:r>
            <a:endParaRPr sz="1196" dirty="0">
              <a:latin typeface="Inter"/>
              <a:ea typeface="Inter"/>
              <a:cs typeface="Inter"/>
              <a:sym typeface="Inter"/>
            </a:endParaRPr>
          </a:p>
        </p:txBody>
      </p:sp>
      <p:sp>
        <p:nvSpPr>
          <p:cNvPr id="4" name="TextBox 3">
            <a:extLst>
              <a:ext uri="{FF2B5EF4-FFF2-40B4-BE49-F238E27FC236}">
                <a16:creationId xmlns:a16="http://schemas.microsoft.com/office/drawing/2014/main" id="{5A8D4303-B808-6D72-7EC1-41A275B07B28}"/>
              </a:ext>
            </a:extLst>
          </p:cNvPr>
          <p:cNvSpPr txBox="1"/>
          <p:nvPr/>
        </p:nvSpPr>
        <p:spPr>
          <a:xfrm>
            <a:off x="493779" y="1358283"/>
            <a:ext cx="4202980" cy="340863"/>
          </a:xfrm>
          <a:prstGeom prst="rect">
            <a:avLst/>
          </a:prstGeom>
          <a:solidFill>
            <a:srgbClr val="A58255"/>
          </a:solidFill>
        </p:spPr>
        <p:txBody>
          <a:bodyPr wrap="square">
            <a:spAutoFit/>
          </a:bodyPr>
          <a:lstStyle/>
          <a:p>
            <a:r>
              <a:rPr lang="en-IN" sz="1615" b="1" dirty="0">
                <a:solidFill>
                  <a:schemeClr val="bg1"/>
                </a:solidFill>
                <a:latin typeface="Inter" panose="020B0604020202020204" charset="0"/>
              </a:rPr>
              <a:t>Introduction</a:t>
            </a:r>
            <a:endParaRPr lang="en-IN" sz="1615" dirty="0">
              <a:solidFill>
                <a:schemeClr val="bg1"/>
              </a:solidFill>
            </a:endParaRPr>
          </a:p>
        </p:txBody>
      </p:sp>
      <p:sp>
        <p:nvSpPr>
          <p:cNvPr id="5" name="TextBox 4">
            <a:extLst>
              <a:ext uri="{FF2B5EF4-FFF2-40B4-BE49-F238E27FC236}">
                <a16:creationId xmlns:a16="http://schemas.microsoft.com/office/drawing/2014/main" id="{00ABFA7C-2C1F-6058-A3A7-449112B8110F}"/>
              </a:ext>
            </a:extLst>
          </p:cNvPr>
          <p:cNvSpPr txBox="1"/>
          <p:nvPr/>
        </p:nvSpPr>
        <p:spPr>
          <a:xfrm>
            <a:off x="4908419" y="1351234"/>
            <a:ext cx="4202980" cy="340863"/>
          </a:xfrm>
          <a:prstGeom prst="rect">
            <a:avLst/>
          </a:prstGeom>
          <a:solidFill>
            <a:srgbClr val="A58255"/>
          </a:solidFill>
        </p:spPr>
        <p:txBody>
          <a:bodyPr wrap="square">
            <a:spAutoFit/>
          </a:bodyPr>
          <a:lstStyle/>
          <a:p>
            <a:r>
              <a:rPr lang="en-IN" sz="1615" b="1" dirty="0">
                <a:solidFill>
                  <a:schemeClr val="bg1"/>
                </a:solidFill>
                <a:latin typeface="Inter" panose="020B0604020202020204" charset="0"/>
              </a:rPr>
              <a:t>Methods</a:t>
            </a:r>
            <a:endParaRPr lang="en-IN" sz="1615" dirty="0">
              <a:solidFill>
                <a:schemeClr val="bg1"/>
              </a:solidFill>
            </a:endParaRPr>
          </a:p>
        </p:txBody>
      </p:sp>
      <p:sp>
        <p:nvSpPr>
          <p:cNvPr id="6" name="TextBox 5">
            <a:extLst>
              <a:ext uri="{FF2B5EF4-FFF2-40B4-BE49-F238E27FC236}">
                <a16:creationId xmlns:a16="http://schemas.microsoft.com/office/drawing/2014/main" id="{52851974-E5B7-2CE6-48CC-144A45C063EE}"/>
              </a:ext>
            </a:extLst>
          </p:cNvPr>
          <p:cNvSpPr txBox="1"/>
          <p:nvPr/>
        </p:nvSpPr>
        <p:spPr>
          <a:xfrm>
            <a:off x="490109" y="3987077"/>
            <a:ext cx="4214462" cy="340863"/>
          </a:xfrm>
          <a:prstGeom prst="rect">
            <a:avLst/>
          </a:prstGeom>
          <a:solidFill>
            <a:srgbClr val="A58255"/>
          </a:solidFill>
        </p:spPr>
        <p:txBody>
          <a:bodyPr wrap="square">
            <a:spAutoFit/>
          </a:bodyPr>
          <a:lstStyle/>
          <a:p>
            <a:r>
              <a:rPr lang="en-IN" sz="1615" b="1" dirty="0" err="1">
                <a:solidFill>
                  <a:schemeClr val="bg1"/>
                </a:solidFill>
                <a:latin typeface="Inter" panose="020B0604020202020204" charset="0"/>
              </a:rPr>
              <a:t>Analyzing</a:t>
            </a:r>
            <a:r>
              <a:rPr lang="en-IN" sz="1615" b="1" dirty="0">
                <a:solidFill>
                  <a:schemeClr val="bg1"/>
                </a:solidFill>
                <a:latin typeface="Inter" panose="020B0604020202020204" charset="0"/>
              </a:rPr>
              <a:t> Complexity Across Classes</a:t>
            </a:r>
            <a:endParaRPr lang="en-IN" sz="1615" dirty="0">
              <a:solidFill>
                <a:schemeClr val="bg1"/>
              </a:solidFill>
            </a:endParaRPr>
          </a:p>
        </p:txBody>
      </p:sp>
      <p:sp>
        <p:nvSpPr>
          <p:cNvPr id="7" name="TextBox 6">
            <a:extLst>
              <a:ext uri="{FF2B5EF4-FFF2-40B4-BE49-F238E27FC236}">
                <a16:creationId xmlns:a16="http://schemas.microsoft.com/office/drawing/2014/main" id="{D531B664-2A91-F2F8-E8A9-F2C00A3A34CD}"/>
              </a:ext>
            </a:extLst>
          </p:cNvPr>
          <p:cNvSpPr txBox="1"/>
          <p:nvPr/>
        </p:nvSpPr>
        <p:spPr>
          <a:xfrm>
            <a:off x="4908419" y="5586376"/>
            <a:ext cx="4211202" cy="340863"/>
          </a:xfrm>
          <a:prstGeom prst="rect">
            <a:avLst/>
          </a:prstGeom>
          <a:solidFill>
            <a:srgbClr val="A58255"/>
          </a:solidFill>
        </p:spPr>
        <p:txBody>
          <a:bodyPr wrap="square">
            <a:spAutoFit/>
          </a:bodyPr>
          <a:lstStyle/>
          <a:p>
            <a:r>
              <a:rPr lang="en-IN" sz="1615" b="1" dirty="0">
                <a:solidFill>
                  <a:schemeClr val="bg1"/>
                </a:solidFill>
                <a:latin typeface="Inter" panose="020B0604020202020204" charset="0"/>
              </a:rPr>
              <a:t>Findings and Results</a:t>
            </a:r>
            <a:endParaRPr lang="en-IN" sz="1615" dirty="0">
              <a:solidFill>
                <a:schemeClr val="bg1"/>
              </a:solidFill>
            </a:endParaRPr>
          </a:p>
        </p:txBody>
      </p:sp>
      <p:sp>
        <p:nvSpPr>
          <p:cNvPr id="8" name="TextBox 7">
            <a:extLst>
              <a:ext uri="{FF2B5EF4-FFF2-40B4-BE49-F238E27FC236}">
                <a16:creationId xmlns:a16="http://schemas.microsoft.com/office/drawing/2014/main" id="{AA0FD7D1-DC00-534A-A08A-2648589F43D6}"/>
              </a:ext>
            </a:extLst>
          </p:cNvPr>
          <p:cNvSpPr txBox="1"/>
          <p:nvPr/>
        </p:nvSpPr>
        <p:spPr>
          <a:xfrm>
            <a:off x="4892048" y="10140683"/>
            <a:ext cx="4214463" cy="340863"/>
          </a:xfrm>
          <a:prstGeom prst="rect">
            <a:avLst/>
          </a:prstGeom>
          <a:solidFill>
            <a:srgbClr val="A58255"/>
          </a:solidFill>
        </p:spPr>
        <p:txBody>
          <a:bodyPr wrap="square">
            <a:spAutoFit/>
          </a:bodyPr>
          <a:lstStyle/>
          <a:p>
            <a:r>
              <a:rPr lang="en-IN" sz="1615" b="1" dirty="0">
                <a:solidFill>
                  <a:schemeClr val="bg1"/>
                </a:solidFill>
                <a:latin typeface="Inter" panose="020B0604020202020204" charset="0"/>
              </a:rPr>
              <a:t>Conclusion</a:t>
            </a:r>
            <a:endParaRPr lang="en-IN" sz="1615" dirty="0">
              <a:solidFill>
                <a:schemeClr val="bg1"/>
              </a:solidFill>
            </a:endParaRPr>
          </a:p>
        </p:txBody>
      </p:sp>
      <p:sp>
        <p:nvSpPr>
          <p:cNvPr id="9" name="TextBox 8">
            <a:extLst>
              <a:ext uri="{FF2B5EF4-FFF2-40B4-BE49-F238E27FC236}">
                <a16:creationId xmlns:a16="http://schemas.microsoft.com/office/drawing/2014/main" id="{53A8D2F5-177F-5785-AFC3-A2EDC9A3C83C}"/>
              </a:ext>
            </a:extLst>
          </p:cNvPr>
          <p:cNvSpPr txBox="1"/>
          <p:nvPr/>
        </p:nvSpPr>
        <p:spPr>
          <a:xfrm>
            <a:off x="4903531" y="11372447"/>
            <a:ext cx="4202980" cy="340863"/>
          </a:xfrm>
          <a:prstGeom prst="rect">
            <a:avLst/>
          </a:prstGeom>
          <a:solidFill>
            <a:srgbClr val="A58255"/>
          </a:solidFill>
        </p:spPr>
        <p:txBody>
          <a:bodyPr wrap="square">
            <a:spAutoFit/>
          </a:bodyPr>
          <a:lstStyle/>
          <a:p>
            <a:r>
              <a:rPr lang="en-IN" sz="1615" b="1" dirty="0">
                <a:solidFill>
                  <a:schemeClr val="bg1"/>
                </a:solidFill>
                <a:latin typeface="Inter" panose="020B0604020202020204" charset="0"/>
              </a:rPr>
              <a:t>References</a:t>
            </a:r>
            <a:endParaRPr lang="en-IN" sz="1615" dirty="0">
              <a:solidFill>
                <a:schemeClr val="bg1"/>
              </a:solidFill>
            </a:endParaRPr>
          </a:p>
        </p:txBody>
      </p:sp>
      <p:sp>
        <p:nvSpPr>
          <p:cNvPr id="13" name="TextBox 12">
            <a:extLst>
              <a:ext uri="{FF2B5EF4-FFF2-40B4-BE49-F238E27FC236}">
                <a16:creationId xmlns:a16="http://schemas.microsoft.com/office/drawing/2014/main" id="{4CA306FE-10A0-9157-4B8D-1D4A15DC69B8}"/>
              </a:ext>
            </a:extLst>
          </p:cNvPr>
          <p:cNvSpPr txBox="1"/>
          <p:nvPr/>
        </p:nvSpPr>
        <p:spPr>
          <a:xfrm>
            <a:off x="493060" y="1615438"/>
            <a:ext cx="4199722" cy="2185605"/>
          </a:xfrm>
          <a:prstGeom prst="rect">
            <a:avLst/>
          </a:prstGeom>
          <a:noFill/>
          <a:ln>
            <a:solidFill>
              <a:srgbClr val="A58255"/>
            </a:solidFill>
          </a:ln>
        </p:spPr>
        <p:txBody>
          <a:bodyPr wrap="square" rtlCol="0">
            <a:noAutofit/>
          </a:bodyPr>
          <a:lstStyle/>
          <a:p>
            <a:pPr algn="just"/>
            <a:endParaRPr lang="en-US" sz="1132" dirty="0"/>
          </a:p>
          <a:p>
            <a:pPr algn="just"/>
            <a:endParaRPr lang="en-US" sz="1132" dirty="0"/>
          </a:p>
          <a:p>
            <a:pPr algn="just"/>
            <a:endParaRPr lang="en-US" sz="1132" b="1" dirty="0"/>
          </a:p>
          <a:p>
            <a:pPr algn="just"/>
            <a:endParaRPr lang="en-US" sz="1132" b="1" dirty="0"/>
          </a:p>
          <a:p>
            <a:pPr algn="just"/>
            <a:endParaRPr lang="en-US" sz="1132" b="1" dirty="0"/>
          </a:p>
          <a:p>
            <a:pPr algn="just"/>
            <a:endParaRPr lang="en-US" sz="1132" b="1" dirty="0"/>
          </a:p>
          <a:p>
            <a:pPr algn="just"/>
            <a:endParaRPr lang="en-US" sz="1132" b="1" dirty="0"/>
          </a:p>
          <a:p>
            <a:pPr algn="just"/>
            <a:endParaRPr lang="en-US" sz="1132" b="1" dirty="0"/>
          </a:p>
          <a:p>
            <a:pPr algn="just"/>
            <a:endParaRPr lang="en-US" sz="1132" b="1" dirty="0"/>
          </a:p>
        </p:txBody>
      </p:sp>
      <p:sp>
        <p:nvSpPr>
          <p:cNvPr id="14" name="TextBox 13">
            <a:extLst>
              <a:ext uri="{FF2B5EF4-FFF2-40B4-BE49-F238E27FC236}">
                <a16:creationId xmlns:a16="http://schemas.microsoft.com/office/drawing/2014/main" id="{63D079A6-E7E3-C042-5F17-907B62763667}"/>
              </a:ext>
            </a:extLst>
          </p:cNvPr>
          <p:cNvSpPr txBox="1"/>
          <p:nvPr/>
        </p:nvSpPr>
        <p:spPr>
          <a:xfrm>
            <a:off x="4910047" y="1627819"/>
            <a:ext cx="4199722" cy="3893891"/>
          </a:xfrm>
          <a:prstGeom prst="rect">
            <a:avLst/>
          </a:prstGeom>
          <a:noFill/>
          <a:ln>
            <a:solidFill>
              <a:srgbClr val="A58255"/>
            </a:solidFill>
          </a:ln>
        </p:spPr>
        <p:txBody>
          <a:bodyPr wrap="square" rtlCol="0">
            <a:noAutofit/>
          </a:bodyPr>
          <a:lstStyle/>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p:txBody>
      </p:sp>
      <p:sp>
        <p:nvSpPr>
          <p:cNvPr id="15" name="TextBox 14">
            <a:extLst>
              <a:ext uri="{FF2B5EF4-FFF2-40B4-BE49-F238E27FC236}">
                <a16:creationId xmlns:a16="http://schemas.microsoft.com/office/drawing/2014/main" id="{8BA88C70-337A-5527-7D00-1C52F65DC333}"/>
              </a:ext>
            </a:extLst>
          </p:cNvPr>
          <p:cNvSpPr txBox="1"/>
          <p:nvPr/>
        </p:nvSpPr>
        <p:spPr>
          <a:xfrm>
            <a:off x="490109" y="4249154"/>
            <a:ext cx="4199722" cy="5617583"/>
          </a:xfrm>
          <a:prstGeom prst="rect">
            <a:avLst/>
          </a:prstGeom>
          <a:noFill/>
          <a:ln>
            <a:solidFill>
              <a:srgbClr val="A58255"/>
            </a:solidFill>
          </a:ln>
        </p:spPr>
        <p:txBody>
          <a:bodyPr wrap="square" rtlCol="0">
            <a:noAutofit/>
          </a:bodyPr>
          <a:lstStyle/>
          <a:p>
            <a:pPr eaLnBrk="0" fontAlgn="base" hangingPunct="0">
              <a:spcBef>
                <a:spcPct val="0"/>
              </a:spcBef>
              <a:spcAft>
                <a:spcPct val="0"/>
              </a:spcAft>
              <a:buClrTx/>
            </a:pPr>
            <a:endParaRPr lang="en-IN" sz="4307" dirty="0"/>
          </a:p>
        </p:txBody>
      </p:sp>
      <p:sp>
        <p:nvSpPr>
          <p:cNvPr id="16" name="TextBox 15">
            <a:extLst>
              <a:ext uri="{FF2B5EF4-FFF2-40B4-BE49-F238E27FC236}">
                <a16:creationId xmlns:a16="http://schemas.microsoft.com/office/drawing/2014/main" id="{9E9A5E9D-0554-E5EC-DACF-B3BB0EAABD36}"/>
              </a:ext>
            </a:extLst>
          </p:cNvPr>
          <p:cNvSpPr txBox="1"/>
          <p:nvPr/>
        </p:nvSpPr>
        <p:spPr>
          <a:xfrm>
            <a:off x="4925768" y="5910208"/>
            <a:ext cx="4199722" cy="4142031"/>
          </a:xfrm>
          <a:prstGeom prst="rect">
            <a:avLst/>
          </a:prstGeom>
          <a:noFill/>
          <a:ln>
            <a:solidFill>
              <a:srgbClr val="A58255"/>
            </a:solidFill>
          </a:ln>
        </p:spPr>
        <p:txBody>
          <a:bodyPr wrap="square" rtlCol="0">
            <a:noAutofit/>
          </a:bodyPr>
          <a:lstStyle/>
          <a:p>
            <a:pPr eaLnBrk="0" fontAlgn="base" hangingPunct="0">
              <a:spcBef>
                <a:spcPct val="0"/>
              </a:spcBef>
              <a:spcAft>
                <a:spcPct val="0"/>
              </a:spcAft>
              <a:buClrTx/>
            </a:pPr>
            <a:endParaRPr lang="en-IN" sz="1132" dirty="0"/>
          </a:p>
        </p:txBody>
      </p:sp>
      <p:sp>
        <p:nvSpPr>
          <p:cNvPr id="17" name="TextBox 16">
            <a:extLst>
              <a:ext uri="{FF2B5EF4-FFF2-40B4-BE49-F238E27FC236}">
                <a16:creationId xmlns:a16="http://schemas.microsoft.com/office/drawing/2014/main" id="{C96AE017-038F-C4E1-5D45-046E81A085D9}"/>
              </a:ext>
            </a:extLst>
          </p:cNvPr>
          <p:cNvSpPr txBox="1"/>
          <p:nvPr/>
        </p:nvSpPr>
        <p:spPr>
          <a:xfrm>
            <a:off x="4910045" y="10464782"/>
            <a:ext cx="4199721" cy="808914"/>
          </a:xfrm>
          <a:prstGeom prst="rect">
            <a:avLst/>
          </a:prstGeom>
          <a:noFill/>
          <a:ln>
            <a:solidFill>
              <a:srgbClr val="A58255"/>
            </a:solidFill>
          </a:ln>
        </p:spPr>
        <p:txBody>
          <a:bodyPr wrap="square" rtlCol="0">
            <a:noAutofit/>
          </a:bodyPr>
          <a:lstStyle/>
          <a:p>
            <a:pPr algn="just"/>
            <a:r>
              <a:rPr lang="en-US" sz="1196" dirty="0">
                <a:latin typeface="Aptos Display" panose="020B0004020202020204" pitchFamily="34" charset="0"/>
              </a:rPr>
              <a:t>This study integrates ResNet50 and an Autoencoder for feature extraction. Using LDA for optimization and SVM for classification, we achieved 91.8% accuracy, demonstrating AI’s potential for reliable, low-resolution image analysis in remote healthcare.</a:t>
            </a:r>
            <a:endParaRPr lang="en-IN" sz="1196" dirty="0">
              <a:latin typeface="Aptos Display" panose="020B0004020202020204" pitchFamily="34" charset="0"/>
            </a:endParaRPr>
          </a:p>
        </p:txBody>
      </p:sp>
      <p:sp>
        <p:nvSpPr>
          <p:cNvPr id="18" name="TextBox 17">
            <a:extLst>
              <a:ext uri="{FF2B5EF4-FFF2-40B4-BE49-F238E27FC236}">
                <a16:creationId xmlns:a16="http://schemas.microsoft.com/office/drawing/2014/main" id="{FF21BF73-FFA0-8430-60AD-60FADFDC878E}"/>
              </a:ext>
            </a:extLst>
          </p:cNvPr>
          <p:cNvSpPr txBox="1"/>
          <p:nvPr/>
        </p:nvSpPr>
        <p:spPr>
          <a:xfrm>
            <a:off x="4905160" y="11659876"/>
            <a:ext cx="4194553" cy="912050"/>
          </a:xfrm>
          <a:prstGeom prst="rect">
            <a:avLst/>
          </a:prstGeom>
          <a:noFill/>
          <a:ln>
            <a:solidFill>
              <a:srgbClr val="A58255"/>
            </a:solidFill>
          </a:ln>
        </p:spPr>
        <p:txBody>
          <a:bodyPr wrap="square" rtlCol="0">
            <a:noAutofit/>
          </a:bodyPr>
          <a:lstStyle/>
          <a:p>
            <a:pPr marL="136749" indent="-136749">
              <a:lnSpc>
                <a:spcPct val="115000"/>
              </a:lnSpc>
              <a:buFont typeface="Arial" panose="020B0604020202020204" pitchFamily="34" charset="0"/>
              <a:buChar char="•"/>
              <a:tabLst>
                <a:tab pos="1046506" algn="l"/>
              </a:tabLst>
            </a:pPr>
            <a:r>
              <a:rPr lang="en-IN" sz="850" dirty="0">
                <a:latin typeface="Times New Roman" panose="02020603050405020304" pitchFamily="18" charset="0"/>
                <a:ea typeface="Times New Roman" panose="02020603050405020304" pitchFamily="18" charset="0"/>
              </a:rPr>
              <a:t>M. Goyal et al., "Artificial intelligence-based image classification methods for diagnosis of skin cancer: Challenges and opportunities," </a:t>
            </a:r>
            <a:r>
              <a:rPr lang="en-IN" sz="850" i="1" dirty="0">
                <a:latin typeface="Times New Roman" panose="02020603050405020304" pitchFamily="18" charset="0"/>
                <a:ea typeface="Times New Roman" panose="02020603050405020304" pitchFamily="18" charset="0"/>
              </a:rPr>
              <a:t>Computers in Biology and Medicine</a:t>
            </a:r>
            <a:r>
              <a:rPr lang="en-IN" sz="850" dirty="0">
                <a:latin typeface="Times New Roman" panose="02020603050405020304" pitchFamily="18" charset="0"/>
                <a:ea typeface="Times New Roman" panose="02020603050405020304" pitchFamily="18" charset="0"/>
              </a:rPr>
              <a:t>, vol. 127, 2020, Art. no. 104065 </a:t>
            </a:r>
            <a:r>
              <a:rPr lang="en-US" sz="850" u="sng" dirty="0">
                <a:solidFill>
                  <a:srgbClr val="0000FF"/>
                </a:solidFill>
                <a:latin typeface="Times New Roman" panose="02020603050405020304" pitchFamily="18" charset="0"/>
                <a:ea typeface="Times New Roman" panose="02020603050405020304" pitchFamily="18" charset="0"/>
                <a:hlinkClick r:id="rId4"/>
              </a:rPr>
              <a:t>https://doi.org/10.1016/j.compbiomed.2020.104065</a:t>
            </a:r>
            <a:r>
              <a:rPr lang="en-IN" sz="850" dirty="0">
                <a:latin typeface="Times New Roman" panose="02020603050405020304" pitchFamily="18" charset="0"/>
                <a:ea typeface="Times New Roman" panose="02020603050405020304" pitchFamily="18" charset="0"/>
              </a:rPr>
              <a:t>.</a:t>
            </a:r>
            <a:endParaRPr lang="en-IN" sz="850" dirty="0">
              <a:latin typeface="Calibri" panose="020F0502020204030204" pitchFamily="34" charset="0"/>
              <a:ea typeface="Calibri" panose="020F0502020204030204" pitchFamily="34" charset="0"/>
            </a:endParaRPr>
          </a:p>
          <a:p>
            <a:pPr marL="136749" indent="-136749">
              <a:buFont typeface="Arial" panose="020B0604020202020204" pitchFamily="34" charset="0"/>
              <a:buChar char="•"/>
            </a:pPr>
            <a:r>
              <a:rPr lang="en-US" sz="850" i="1" dirty="0">
                <a:latin typeface="Times New Roman" panose="02020603050405020304" pitchFamily="18" charset="0"/>
                <a:ea typeface="Calibri" panose="020F0502020204030204" pitchFamily="34" charset="0"/>
              </a:rPr>
              <a:t>International Skin Imaging Collaboration. SLICE-3D 2024 Challenge Dataset. International Skin Imaging Collaboration </a:t>
            </a:r>
            <a:r>
              <a:rPr lang="en-US" sz="850" i="1" u="sng" dirty="0">
                <a:solidFill>
                  <a:srgbClr val="0000FF"/>
                </a:solidFill>
                <a:latin typeface="Times New Roman" panose="02020603050405020304" pitchFamily="18" charset="0"/>
                <a:ea typeface="Calibri" panose="020F0502020204030204" pitchFamily="34" charset="0"/>
                <a:cs typeface="Gautami" panose="020B0502040204020203" pitchFamily="34" charset="0"/>
                <a:hlinkClick r:id="rId5"/>
              </a:rPr>
              <a:t>https://doi.org/10.34970/2024-slice-3d </a:t>
            </a:r>
            <a:r>
              <a:rPr lang="en-US" sz="850" i="1" dirty="0">
                <a:latin typeface="Times New Roman" panose="02020603050405020304" pitchFamily="18" charset="0"/>
                <a:ea typeface="Calibri" panose="020F0502020204030204" pitchFamily="34" charset="0"/>
              </a:rPr>
              <a:t>(2024)</a:t>
            </a:r>
            <a:endParaRPr lang="en-IN" sz="850" dirty="0"/>
          </a:p>
        </p:txBody>
      </p:sp>
      <p:pic>
        <p:nvPicPr>
          <p:cNvPr id="12" name="Picture 11">
            <a:extLst>
              <a:ext uri="{FF2B5EF4-FFF2-40B4-BE49-F238E27FC236}">
                <a16:creationId xmlns:a16="http://schemas.microsoft.com/office/drawing/2014/main" id="{83E2C856-C402-B8BD-C925-24904A1939B6}"/>
              </a:ext>
            </a:extLst>
          </p:cNvPr>
          <p:cNvPicPr>
            <a:picLocks noChangeAspect="1"/>
          </p:cNvPicPr>
          <p:nvPr/>
        </p:nvPicPr>
        <p:blipFill>
          <a:blip r:embed="rId6"/>
          <a:stretch>
            <a:fillRect/>
          </a:stretch>
        </p:blipFill>
        <p:spPr>
          <a:xfrm>
            <a:off x="878723" y="7045461"/>
            <a:ext cx="3562202" cy="1606756"/>
          </a:xfrm>
          <a:prstGeom prst="rect">
            <a:avLst/>
          </a:prstGeom>
        </p:spPr>
      </p:pic>
      <p:sp>
        <p:nvSpPr>
          <p:cNvPr id="19" name="TextBox 18">
            <a:extLst>
              <a:ext uri="{FF2B5EF4-FFF2-40B4-BE49-F238E27FC236}">
                <a16:creationId xmlns:a16="http://schemas.microsoft.com/office/drawing/2014/main" id="{003DAC25-B724-3A25-5690-BA37BC00E9E9}"/>
              </a:ext>
            </a:extLst>
          </p:cNvPr>
          <p:cNvSpPr txBox="1"/>
          <p:nvPr/>
        </p:nvSpPr>
        <p:spPr>
          <a:xfrm>
            <a:off x="459234" y="10057394"/>
            <a:ext cx="4208720" cy="340863"/>
          </a:xfrm>
          <a:prstGeom prst="rect">
            <a:avLst/>
          </a:prstGeom>
          <a:solidFill>
            <a:srgbClr val="A58255"/>
          </a:solidFill>
        </p:spPr>
        <p:txBody>
          <a:bodyPr wrap="square">
            <a:spAutoFit/>
          </a:bodyPr>
          <a:lstStyle/>
          <a:p>
            <a:r>
              <a:rPr lang="en-US" sz="1615" b="1" dirty="0">
                <a:solidFill>
                  <a:schemeClr val="bg1"/>
                </a:solidFill>
                <a:latin typeface="Inter" panose="020B0604020202020204" charset="0"/>
              </a:rPr>
              <a:t>Our Dataset: A Detailed Perspective</a:t>
            </a:r>
            <a:endParaRPr lang="en-IN" sz="1615" dirty="0">
              <a:solidFill>
                <a:schemeClr val="bg1"/>
              </a:solidFill>
            </a:endParaRPr>
          </a:p>
        </p:txBody>
      </p:sp>
      <p:sp>
        <p:nvSpPr>
          <p:cNvPr id="20" name="TextBox 19">
            <a:extLst>
              <a:ext uri="{FF2B5EF4-FFF2-40B4-BE49-F238E27FC236}">
                <a16:creationId xmlns:a16="http://schemas.microsoft.com/office/drawing/2014/main" id="{3982A4C5-4B0B-32E3-9396-62FFF6EE38B1}"/>
              </a:ext>
            </a:extLst>
          </p:cNvPr>
          <p:cNvSpPr txBox="1"/>
          <p:nvPr/>
        </p:nvSpPr>
        <p:spPr>
          <a:xfrm>
            <a:off x="470142" y="10355245"/>
            <a:ext cx="4202980" cy="2216680"/>
          </a:xfrm>
          <a:prstGeom prst="rect">
            <a:avLst/>
          </a:prstGeom>
          <a:noFill/>
          <a:ln>
            <a:solidFill>
              <a:srgbClr val="A58255"/>
            </a:solidFill>
          </a:ln>
        </p:spPr>
        <p:txBody>
          <a:bodyPr wrap="square" rtlCol="0">
            <a:noAutofit/>
          </a:bodyPr>
          <a:lstStyle/>
          <a:p>
            <a:pPr algn="just" eaLnBrk="0" fontAlgn="base" hangingPunct="0">
              <a:spcBef>
                <a:spcPct val="0"/>
              </a:spcBef>
              <a:spcAft>
                <a:spcPct val="0"/>
              </a:spcAft>
              <a:buClrTx/>
            </a:pPr>
            <a:r>
              <a:rPr lang="en-US" sz="1196" b="1" dirty="0">
                <a:latin typeface="Aptos Display" panose="020B0004020202020204" pitchFamily="34" charset="0"/>
              </a:rPr>
              <a:t>Dataset</a:t>
            </a:r>
            <a:r>
              <a:rPr lang="en-US" sz="1196" dirty="0">
                <a:latin typeface="Aptos Display" panose="020B0004020202020204" pitchFamily="34" charset="0"/>
              </a:rPr>
              <a:t>: Kaggle Research Code Competition: ISIC 2024 </a:t>
            </a:r>
          </a:p>
          <a:p>
            <a:pPr eaLnBrk="0" fontAlgn="base" hangingPunct="0">
              <a:spcBef>
                <a:spcPct val="0"/>
              </a:spcBef>
              <a:spcAft>
                <a:spcPct val="0"/>
              </a:spcAft>
              <a:buClrTx/>
            </a:pPr>
            <a:r>
              <a:rPr lang="en-US" sz="1196" dirty="0">
                <a:latin typeface="Aptos Display" panose="020B0004020202020204" pitchFamily="34" charset="0"/>
              </a:rPr>
              <a:t>(</a:t>
            </a:r>
            <a:r>
              <a:rPr lang="en-US" sz="1196" dirty="0">
                <a:latin typeface="Aptos Display" panose="020B0004020202020204" pitchFamily="34" charset="0"/>
                <a:hlinkClick r:id="rId7"/>
              </a:rPr>
              <a:t>https://www.kaggle.com/competitions/isic-2024-challenge/overview</a:t>
            </a:r>
            <a:r>
              <a:rPr lang="en-US" sz="1196" dirty="0">
                <a:latin typeface="Aptos Display" panose="020B0004020202020204" pitchFamily="34" charset="0"/>
              </a:rPr>
              <a:t> )</a:t>
            </a:r>
          </a:p>
          <a:p>
            <a:pPr eaLnBrk="0" fontAlgn="base" hangingPunct="0">
              <a:spcBef>
                <a:spcPct val="0"/>
              </a:spcBef>
              <a:spcAft>
                <a:spcPct val="0"/>
              </a:spcAft>
              <a:buClrTx/>
            </a:pPr>
            <a:r>
              <a:rPr lang="en-US" sz="1196" b="1" dirty="0">
                <a:latin typeface="Aptos Display" panose="020B0004020202020204" pitchFamily="34" charset="0"/>
              </a:rPr>
              <a:t>Images</a:t>
            </a:r>
            <a:r>
              <a:rPr lang="en-US" sz="1196" dirty="0">
                <a:latin typeface="Aptos Display" panose="020B0004020202020204" pitchFamily="34" charset="0"/>
              </a:rPr>
              <a:t>: 393 malignant and 400 benign (793 total).</a:t>
            </a:r>
            <a:endParaRPr lang="en-IN" sz="1196" dirty="0">
              <a:latin typeface="Aptos Display" panose="020B0004020202020204" pitchFamily="34" charset="0"/>
            </a:endParaRPr>
          </a:p>
        </p:txBody>
      </p:sp>
      <p:sp>
        <p:nvSpPr>
          <p:cNvPr id="28" name="TextBox 27">
            <a:extLst>
              <a:ext uri="{FF2B5EF4-FFF2-40B4-BE49-F238E27FC236}">
                <a16:creationId xmlns:a16="http://schemas.microsoft.com/office/drawing/2014/main" id="{7B3A0847-F000-AFD3-EB02-076237327CA8}"/>
              </a:ext>
            </a:extLst>
          </p:cNvPr>
          <p:cNvSpPr txBox="1"/>
          <p:nvPr/>
        </p:nvSpPr>
        <p:spPr>
          <a:xfrm>
            <a:off x="531437" y="8708845"/>
            <a:ext cx="4111324" cy="1196481"/>
          </a:xfrm>
          <a:prstGeom prst="rect">
            <a:avLst/>
          </a:prstGeom>
          <a:noFill/>
        </p:spPr>
        <p:txBody>
          <a:bodyPr wrap="square" rtlCol="0">
            <a:spAutoFit/>
          </a:bodyPr>
          <a:lstStyle/>
          <a:p>
            <a:pPr algn="just"/>
            <a:r>
              <a:rPr lang="en-US" sz="1196" b="1" dirty="0">
                <a:latin typeface="Aptos Display" panose="020B0004020202020204" pitchFamily="34" charset="0"/>
              </a:rPr>
              <a:t>The comparison of color textures across different malignant types, as well as between malignant and benign lesions, underscores the complexity of accurate skin cancer detection. These variations highlight the necessity for advanced methods to effectively differentiate between the diverse characteristics of skin lesions.</a:t>
            </a:r>
            <a:endParaRPr lang="en-IN" sz="1196" b="1" dirty="0">
              <a:latin typeface="Aptos Display" panose="020B0004020202020204" pitchFamily="34" charset="0"/>
            </a:endParaRPr>
          </a:p>
        </p:txBody>
      </p:sp>
      <p:pic>
        <p:nvPicPr>
          <p:cNvPr id="21" name="Picture 20">
            <a:extLst>
              <a:ext uri="{FF2B5EF4-FFF2-40B4-BE49-F238E27FC236}">
                <a16:creationId xmlns:a16="http://schemas.microsoft.com/office/drawing/2014/main" id="{58A72348-86E7-03A1-CA62-1BC2D3963E9F}"/>
              </a:ext>
            </a:extLst>
          </p:cNvPr>
          <p:cNvPicPr>
            <a:picLocks noChangeAspect="1"/>
          </p:cNvPicPr>
          <p:nvPr/>
        </p:nvPicPr>
        <p:blipFill>
          <a:blip r:embed="rId8"/>
          <a:stretch>
            <a:fillRect/>
          </a:stretch>
        </p:blipFill>
        <p:spPr>
          <a:xfrm>
            <a:off x="1068446" y="11122673"/>
            <a:ext cx="3058905" cy="1435732"/>
          </a:xfrm>
          <a:prstGeom prst="rect">
            <a:avLst/>
          </a:prstGeom>
        </p:spPr>
      </p:pic>
      <p:graphicFrame>
        <p:nvGraphicFramePr>
          <p:cNvPr id="26" name="Table 25">
            <a:extLst>
              <a:ext uri="{FF2B5EF4-FFF2-40B4-BE49-F238E27FC236}">
                <a16:creationId xmlns:a16="http://schemas.microsoft.com/office/drawing/2014/main" id="{859B75CE-CE42-19A8-F6A3-F9A42E517E2A}"/>
              </a:ext>
            </a:extLst>
          </p:cNvPr>
          <p:cNvGraphicFramePr>
            <a:graphicFrameLocks noGrp="1"/>
          </p:cNvGraphicFramePr>
          <p:nvPr>
            <p:extLst>
              <p:ext uri="{D42A27DB-BD31-4B8C-83A1-F6EECF244321}">
                <p14:modId xmlns:p14="http://schemas.microsoft.com/office/powerpoint/2010/main" val="1317232668"/>
              </p:ext>
            </p:extLst>
          </p:nvPr>
        </p:nvGraphicFramePr>
        <p:xfrm>
          <a:off x="5223492" y="5989802"/>
          <a:ext cx="3539750" cy="1715537"/>
        </p:xfrm>
        <a:graphic>
          <a:graphicData uri="http://schemas.openxmlformats.org/drawingml/2006/table">
            <a:tbl>
              <a:tblPr firstRow="1" bandRow="1">
                <a:tableStyleId>{5DA37D80-6434-44D0-A028-1B22A696006F}</a:tableStyleId>
              </a:tblPr>
              <a:tblGrid>
                <a:gridCol w="669193">
                  <a:extLst>
                    <a:ext uri="{9D8B030D-6E8A-4147-A177-3AD203B41FA5}">
                      <a16:colId xmlns:a16="http://schemas.microsoft.com/office/drawing/2014/main" val="3366718870"/>
                    </a:ext>
                  </a:extLst>
                </a:gridCol>
                <a:gridCol w="1010064">
                  <a:extLst>
                    <a:ext uri="{9D8B030D-6E8A-4147-A177-3AD203B41FA5}">
                      <a16:colId xmlns:a16="http://schemas.microsoft.com/office/drawing/2014/main" val="921414667"/>
                    </a:ext>
                  </a:extLst>
                </a:gridCol>
                <a:gridCol w="507625">
                  <a:extLst>
                    <a:ext uri="{9D8B030D-6E8A-4147-A177-3AD203B41FA5}">
                      <a16:colId xmlns:a16="http://schemas.microsoft.com/office/drawing/2014/main" val="2847541824"/>
                    </a:ext>
                  </a:extLst>
                </a:gridCol>
                <a:gridCol w="676434">
                  <a:extLst>
                    <a:ext uri="{9D8B030D-6E8A-4147-A177-3AD203B41FA5}">
                      <a16:colId xmlns:a16="http://schemas.microsoft.com/office/drawing/2014/main" val="4182152414"/>
                    </a:ext>
                  </a:extLst>
                </a:gridCol>
                <a:gridCol w="676434">
                  <a:extLst>
                    <a:ext uri="{9D8B030D-6E8A-4147-A177-3AD203B41FA5}">
                      <a16:colId xmlns:a16="http://schemas.microsoft.com/office/drawing/2014/main" val="4274886168"/>
                    </a:ext>
                  </a:extLst>
                </a:gridCol>
              </a:tblGrid>
              <a:tr h="224092">
                <a:tc rowSpan="2">
                  <a:txBody>
                    <a:bodyPr/>
                    <a:lstStyle/>
                    <a:p>
                      <a:pPr algn="ctr"/>
                      <a:r>
                        <a:rPr lang="en-IN" sz="800" dirty="0">
                          <a:latin typeface="Aptos Display" panose="020B0004020202020204" pitchFamily="34" charset="0"/>
                        </a:rPr>
                        <a:t>Deep Model</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n-IN" sz="800" dirty="0">
                          <a:latin typeface="Aptos Display" panose="020B0004020202020204" pitchFamily="34" charset="0"/>
                        </a:rPr>
                        <a:t>Layer</a:t>
                      </a:r>
                    </a:p>
                    <a:p>
                      <a:pPr algn="ctr"/>
                      <a:r>
                        <a:rPr lang="en-IN" sz="800" dirty="0">
                          <a:latin typeface="Aptos Display" panose="020B0004020202020204" pitchFamily="34" charset="0"/>
                        </a:rPr>
                        <a:t>/features</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IN" sz="800" dirty="0">
                          <a:latin typeface="Aptos Display" panose="020B0004020202020204" pitchFamily="34" charset="0"/>
                        </a:rPr>
                        <a:t>Model Accuracy (%)</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108451223"/>
                  </a:ext>
                </a:extLst>
              </a:tr>
              <a:tr h="370985">
                <a:tc vMerge="1">
                  <a:txBody>
                    <a:bodyPr/>
                    <a:lstStyle/>
                    <a:p>
                      <a:pPr algn="ctr"/>
                      <a:endParaRPr lang="en-IN" dirty="0"/>
                    </a:p>
                  </a:txBody>
                  <a:tcPr/>
                </a:tc>
                <a:tc vMerge="1">
                  <a:txBody>
                    <a:bodyPr/>
                    <a:lstStyle/>
                    <a:p>
                      <a:endParaRPr lang="en-IN" dirty="0"/>
                    </a:p>
                  </a:txBody>
                  <a:tcPr/>
                </a:tc>
                <a:tc>
                  <a:txBody>
                    <a:bodyPr/>
                    <a:lstStyle/>
                    <a:p>
                      <a:r>
                        <a:rPr lang="en-IN" sz="800" dirty="0">
                          <a:latin typeface="Aptos Display" panose="020B0004020202020204" pitchFamily="34" charset="0"/>
                        </a:rPr>
                        <a:t>SVM</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Neural Network</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Random Forest</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3251746"/>
                  </a:ext>
                </a:extLst>
              </a:tr>
              <a:tr h="224092">
                <a:tc rowSpan="3">
                  <a:txBody>
                    <a:bodyPr/>
                    <a:lstStyle/>
                    <a:p>
                      <a:r>
                        <a:rPr lang="en-IN" sz="800" dirty="0">
                          <a:latin typeface="Aptos Display" panose="020B0004020202020204" pitchFamily="34" charset="0"/>
                        </a:rPr>
                        <a:t>VGG16</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Block5_Conv3</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61.64</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67.30</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72.33</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9262236"/>
                  </a:ext>
                </a:extLst>
              </a:tr>
              <a:tr h="224092">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dirty="0">
                          <a:latin typeface="Aptos Display" panose="020B0004020202020204" pitchFamily="34" charset="0"/>
                        </a:rPr>
                        <a:t>Block5_Conv2</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76.73</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73.58</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75.47</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5618050"/>
                  </a:ext>
                </a:extLst>
              </a:tr>
              <a:tr h="224092">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dirty="0">
                          <a:latin typeface="Aptos Display" panose="020B0004020202020204" pitchFamily="34" charset="0"/>
                        </a:rPr>
                        <a:t>Block5_Conv1</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highlight>
                            <a:srgbClr val="FFFF00"/>
                          </a:highlight>
                          <a:latin typeface="Aptos Display" panose="020B0004020202020204" pitchFamily="34" charset="0"/>
                        </a:rPr>
                        <a:t>77.99</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72.33</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72.96</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24663388"/>
                  </a:ext>
                </a:extLst>
              </a:tr>
              <a:tr h="224092">
                <a:tc rowSpan="2">
                  <a:txBody>
                    <a:bodyPr/>
                    <a:lstStyle/>
                    <a:p>
                      <a:r>
                        <a:rPr lang="en-IN" sz="800" dirty="0">
                          <a:latin typeface="Aptos Display" panose="020B0004020202020204" pitchFamily="34" charset="0"/>
                        </a:rPr>
                        <a:t>RESNET 50</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Conv5_Block1</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77.36</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76.10</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76.10</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4863206"/>
                  </a:ext>
                </a:extLst>
              </a:tr>
              <a:tr h="224092">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dirty="0">
                          <a:latin typeface="Aptos Display" panose="020B0004020202020204" pitchFamily="34" charset="0"/>
                        </a:rPr>
                        <a:t>Conv5_Block2</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highlight>
                            <a:srgbClr val="FFFF00"/>
                          </a:highlight>
                          <a:latin typeface="Aptos Display" panose="020B0004020202020204" pitchFamily="34" charset="0"/>
                        </a:rPr>
                        <a:t>80.50</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77.36</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800" dirty="0">
                          <a:latin typeface="Aptos Display" panose="020B0004020202020204" pitchFamily="34" charset="0"/>
                        </a:rPr>
                        <a:t>78.62</a:t>
                      </a:r>
                    </a:p>
                  </a:txBody>
                  <a:tcPr marL="86234" marR="86234" marT="43117" marB="431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9376994"/>
                  </a:ext>
                </a:extLst>
              </a:tr>
            </a:tbl>
          </a:graphicData>
        </a:graphic>
      </p:graphicFrame>
      <p:sp>
        <p:nvSpPr>
          <p:cNvPr id="24" name="TextBox 23">
            <a:extLst>
              <a:ext uri="{FF2B5EF4-FFF2-40B4-BE49-F238E27FC236}">
                <a16:creationId xmlns:a16="http://schemas.microsoft.com/office/drawing/2014/main" id="{F031F25A-496C-E116-B800-8F14C5080261}"/>
              </a:ext>
            </a:extLst>
          </p:cNvPr>
          <p:cNvSpPr txBox="1"/>
          <p:nvPr/>
        </p:nvSpPr>
        <p:spPr>
          <a:xfrm>
            <a:off x="502593" y="1672273"/>
            <a:ext cx="4090216" cy="2072875"/>
          </a:xfrm>
          <a:prstGeom prst="rect">
            <a:avLst/>
          </a:prstGeom>
          <a:noFill/>
        </p:spPr>
        <p:txBody>
          <a:bodyPr wrap="square" rtlCol="0">
            <a:spAutoFit/>
          </a:bodyPr>
          <a:lstStyle/>
          <a:p>
            <a:pPr algn="just" defTabSz="273497">
              <a:defRPr/>
            </a:pPr>
            <a:r>
              <a:rPr lang="en-US" sz="1180" dirty="0">
                <a:latin typeface="Aptos Display" panose="020B0004020202020204" pitchFamily="34" charset="0"/>
              </a:rPr>
              <a:t>Skin cancer is the world’s most common cancer, affecting over </a:t>
            </a:r>
            <a:r>
              <a:rPr lang="en-US" sz="1180" b="1" dirty="0">
                <a:latin typeface="Aptos Display" panose="020B0004020202020204" pitchFamily="34" charset="0"/>
              </a:rPr>
              <a:t>1.5 million people</a:t>
            </a:r>
            <a:r>
              <a:rPr lang="en-US" sz="1180" dirty="0">
                <a:latin typeface="Aptos Display" panose="020B0004020202020204" pitchFamily="34" charset="0"/>
              </a:rPr>
              <a:t> each year. Although melanoma accounts for only 1% of cases, it is the deadliest form, making accurate detection crucial. Traditional exams can sometimes miss signs of melanoma, with even skilled dermatologists reaching around </a:t>
            </a:r>
            <a:r>
              <a:rPr lang="en-US" sz="1180" b="1" dirty="0">
                <a:latin typeface="Aptos Display" panose="020B0004020202020204" pitchFamily="34" charset="0"/>
              </a:rPr>
              <a:t>60% accuracy</a:t>
            </a:r>
            <a:r>
              <a:rPr lang="en-US" sz="1180" dirty="0">
                <a:latin typeface="Aptos Display" panose="020B0004020202020204" pitchFamily="34" charset="0"/>
              </a:rPr>
              <a:t>. While </a:t>
            </a:r>
            <a:r>
              <a:rPr lang="en-US" sz="1180" dirty="0" err="1">
                <a:latin typeface="Aptos Display" panose="020B0004020202020204" pitchFamily="34" charset="0"/>
              </a:rPr>
              <a:t>dermoscopy</a:t>
            </a:r>
            <a:r>
              <a:rPr lang="en-US" sz="1180" dirty="0">
                <a:latin typeface="Aptos Display" panose="020B0004020202020204" pitchFamily="34" charset="0"/>
              </a:rPr>
              <a:t> has improved diagnostic capabilities, subtle melanomas remain challenging to identify.</a:t>
            </a:r>
          </a:p>
          <a:p>
            <a:pPr algn="just" defTabSz="273497">
              <a:defRPr/>
            </a:pPr>
            <a:r>
              <a:rPr lang="en-US" sz="1180" b="1" dirty="0">
                <a:latin typeface="Aptos Display" panose="020B0004020202020204" pitchFamily="34" charset="0"/>
              </a:rPr>
              <a:t>Our project focuses on making skin cancer detection possible in telehealth images</a:t>
            </a:r>
            <a:r>
              <a:rPr lang="en-US" sz="1180" dirty="0">
                <a:latin typeface="Aptos Display" panose="020B0004020202020204" pitchFamily="34" charset="0"/>
              </a:rPr>
              <a:t>. By leveraging machine learning, we aim to enhance accuracy in low-resolution, patient-submitted images, addressing a critical gap in remote skin cancer diagnosis</a:t>
            </a:r>
            <a:endParaRPr lang="en-IN" sz="1180" dirty="0">
              <a:latin typeface="Aptos Display" panose="020B0004020202020204" pitchFamily="34" charset="0"/>
            </a:endParaRPr>
          </a:p>
        </p:txBody>
      </p:sp>
      <p:sp>
        <p:nvSpPr>
          <p:cNvPr id="25" name="TextBox 24">
            <a:extLst>
              <a:ext uri="{FF2B5EF4-FFF2-40B4-BE49-F238E27FC236}">
                <a16:creationId xmlns:a16="http://schemas.microsoft.com/office/drawing/2014/main" id="{73DC3562-A57A-D74E-02B8-59E6E94CD219}"/>
              </a:ext>
            </a:extLst>
          </p:cNvPr>
          <p:cNvSpPr txBox="1"/>
          <p:nvPr/>
        </p:nvSpPr>
        <p:spPr>
          <a:xfrm>
            <a:off x="491910" y="2533591"/>
            <a:ext cx="4187563" cy="262701"/>
          </a:xfrm>
          <a:prstGeom prst="rect">
            <a:avLst/>
          </a:prstGeom>
          <a:noFill/>
        </p:spPr>
        <p:txBody>
          <a:bodyPr wrap="square" rtlCol="0">
            <a:spAutoFit/>
          </a:bodyPr>
          <a:lstStyle/>
          <a:p>
            <a:pPr algn="just"/>
            <a:r>
              <a:rPr lang="en-US" sz="1107" dirty="0"/>
              <a:t>.</a:t>
            </a:r>
            <a:endParaRPr lang="en-US" sz="1436" dirty="0"/>
          </a:p>
        </p:txBody>
      </p:sp>
      <p:pic>
        <p:nvPicPr>
          <p:cNvPr id="42" name="Picture 41">
            <a:extLst>
              <a:ext uri="{FF2B5EF4-FFF2-40B4-BE49-F238E27FC236}">
                <a16:creationId xmlns:a16="http://schemas.microsoft.com/office/drawing/2014/main" id="{636F0607-D359-6A90-AF10-795410656B83}"/>
              </a:ext>
            </a:extLst>
          </p:cNvPr>
          <p:cNvPicPr>
            <a:picLocks noChangeAspect="1"/>
          </p:cNvPicPr>
          <p:nvPr/>
        </p:nvPicPr>
        <p:blipFill>
          <a:blip r:embed="rId9"/>
          <a:srcRect t="5582"/>
          <a:stretch/>
        </p:blipFill>
        <p:spPr>
          <a:xfrm>
            <a:off x="904217" y="4682213"/>
            <a:ext cx="3455145" cy="2034518"/>
          </a:xfrm>
          <a:prstGeom prst="rect">
            <a:avLst/>
          </a:prstGeom>
        </p:spPr>
      </p:pic>
      <p:sp>
        <p:nvSpPr>
          <p:cNvPr id="43" name="TextBox 42">
            <a:extLst>
              <a:ext uri="{FF2B5EF4-FFF2-40B4-BE49-F238E27FC236}">
                <a16:creationId xmlns:a16="http://schemas.microsoft.com/office/drawing/2014/main" id="{B068C156-CA94-1E1D-3EC3-6D9200EB8D61}"/>
              </a:ext>
            </a:extLst>
          </p:cNvPr>
          <p:cNvSpPr txBox="1"/>
          <p:nvPr/>
        </p:nvSpPr>
        <p:spPr>
          <a:xfrm>
            <a:off x="506818" y="4274337"/>
            <a:ext cx="4166304" cy="460382"/>
          </a:xfrm>
          <a:prstGeom prst="rect">
            <a:avLst/>
          </a:prstGeom>
          <a:noFill/>
        </p:spPr>
        <p:txBody>
          <a:bodyPr wrap="square" rtlCol="0">
            <a:spAutoFit/>
          </a:bodyPr>
          <a:lstStyle/>
          <a:p>
            <a:r>
              <a:rPr lang="en-US" sz="1196" dirty="0">
                <a:latin typeface="Aptos Display" panose="020B0004020202020204" pitchFamily="34" charset="0"/>
              </a:rPr>
              <a:t>Highlighting Unexpected Similarities Between Malignant and Benign Lesions</a:t>
            </a:r>
            <a:endParaRPr lang="en-IN" sz="1196" dirty="0">
              <a:latin typeface="Aptos Display" panose="020B0004020202020204" pitchFamily="34" charset="0"/>
            </a:endParaRPr>
          </a:p>
        </p:txBody>
      </p:sp>
      <p:sp>
        <p:nvSpPr>
          <p:cNvPr id="44" name="TextBox 43">
            <a:extLst>
              <a:ext uri="{FF2B5EF4-FFF2-40B4-BE49-F238E27FC236}">
                <a16:creationId xmlns:a16="http://schemas.microsoft.com/office/drawing/2014/main" id="{F845C42F-9B2A-AF11-0C7D-E3DCD0E408CC}"/>
              </a:ext>
            </a:extLst>
          </p:cNvPr>
          <p:cNvSpPr txBox="1"/>
          <p:nvPr/>
        </p:nvSpPr>
        <p:spPr>
          <a:xfrm>
            <a:off x="531438" y="6781548"/>
            <a:ext cx="2879920" cy="276358"/>
          </a:xfrm>
          <a:prstGeom prst="rect">
            <a:avLst/>
          </a:prstGeom>
          <a:noFill/>
        </p:spPr>
        <p:txBody>
          <a:bodyPr wrap="square" rtlCol="0">
            <a:spAutoFit/>
          </a:bodyPr>
          <a:lstStyle/>
          <a:p>
            <a:r>
              <a:rPr lang="en-US" sz="1196" dirty="0">
                <a:latin typeface="Aptos Display" panose="020B0004020202020204" pitchFamily="34" charset="0"/>
              </a:rPr>
              <a:t>Comparing Different Malignant images</a:t>
            </a:r>
            <a:endParaRPr lang="en-IN" sz="1196" dirty="0">
              <a:latin typeface="Aptos Display" panose="020B0004020202020204" pitchFamily="34" charset="0"/>
            </a:endParaRPr>
          </a:p>
        </p:txBody>
      </p:sp>
      <p:pic>
        <p:nvPicPr>
          <p:cNvPr id="46" name="Picture 45">
            <a:extLst>
              <a:ext uri="{FF2B5EF4-FFF2-40B4-BE49-F238E27FC236}">
                <a16:creationId xmlns:a16="http://schemas.microsoft.com/office/drawing/2014/main" id="{A907DDA9-E939-9A7D-FF07-A15B382CE3AF}"/>
              </a:ext>
            </a:extLst>
          </p:cNvPr>
          <p:cNvPicPr>
            <a:picLocks noChangeAspect="1"/>
          </p:cNvPicPr>
          <p:nvPr/>
        </p:nvPicPr>
        <p:blipFill>
          <a:blip r:embed="rId10"/>
          <a:stretch>
            <a:fillRect/>
          </a:stretch>
        </p:blipFill>
        <p:spPr>
          <a:xfrm>
            <a:off x="3010788" y="4758656"/>
            <a:ext cx="1174977" cy="877262"/>
          </a:xfrm>
          <a:prstGeom prst="rect">
            <a:avLst/>
          </a:prstGeom>
        </p:spPr>
      </p:pic>
      <p:pic>
        <p:nvPicPr>
          <p:cNvPr id="48" name="Picture 47">
            <a:extLst>
              <a:ext uri="{FF2B5EF4-FFF2-40B4-BE49-F238E27FC236}">
                <a16:creationId xmlns:a16="http://schemas.microsoft.com/office/drawing/2014/main" id="{91D8CF5A-A89D-E7F1-5388-0CF56D1D02E4}"/>
              </a:ext>
            </a:extLst>
          </p:cNvPr>
          <p:cNvPicPr>
            <a:picLocks noChangeAspect="1"/>
          </p:cNvPicPr>
          <p:nvPr/>
        </p:nvPicPr>
        <p:blipFill>
          <a:blip r:embed="rId11"/>
          <a:stretch>
            <a:fillRect/>
          </a:stretch>
        </p:blipFill>
        <p:spPr>
          <a:xfrm>
            <a:off x="1294581" y="4758656"/>
            <a:ext cx="1174977" cy="875381"/>
          </a:xfrm>
          <a:prstGeom prst="rect">
            <a:avLst/>
          </a:prstGeom>
        </p:spPr>
      </p:pic>
      <p:sp>
        <p:nvSpPr>
          <p:cNvPr id="34" name="TextBox 33">
            <a:extLst>
              <a:ext uri="{FF2B5EF4-FFF2-40B4-BE49-F238E27FC236}">
                <a16:creationId xmlns:a16="http://schemas.microsoft.com/office/drawing/2014/main" id="{C87E133E-A202-21D3-F2D8-AD5B1C09764E}"/>
              </a:ext>
            </a:extLst>
          </p:cNvPr>
          <p:cNvSpPr txBox="1"/>
          <p:nvPr/>
        </p:nvSpPr>
        <p:spPr>
          <a:xfrm>
            <a:off x="4967434" y="3983011"/>
            <a:ext cx="4084947" cy="1564531"/>
          </a:xfrm>
          <a:prstGeom prst="rect">
            <a:avLst/>
          </a:prstGeom>
          <a:noFill/>
        </p:spPr>
        <p:txBody>
          <a:bodyPr wrap="square" rtlCol="0">
            <a:spAutoFit/>
          </a:bodyPr>
          <a:lstStyle/>
          <a:p>
            <a:pPr algn="just" defTabSz="273497">
              <a:defRPr/>
            </a:pPr>
            <a:r>
              <a:rPr lang="en-US" sz="1196" dirty="0">
                <a:latin typeface="Aptos Display" panose="020B0004020202020204" pitchFamily="34" charset="0"/>
              </a:rPr>
              <a:t>The proposed system enhances skin cancer diagnosis by combining deep feature extraction from an autoencoder and ResNet-50’s conv5_block2 layer. To further optimize classification, Linear Discriminant Analysis (LDA) is applied to maximize class separability. To classify skin lesions, we utilize machine learning approaches such as Support Vector Machines for margin-based classification, Neural Networks for feature learning, and Random Forests for ensemble decision-making</a:t>
            </a:r>
          </a:p>
        </p:txBody>
      </p:sp>
      <p:sp>
        <p:nvSpPr>
          <p:cNvPr id="47" name="TextBox 46">
            <a:extLst>
              <a:ext uri="{FF2B5EF4-FFF2-40B4-BE49-F238E27FC236}">
                <a16:creationId xmlns:a16="http://schemas.microsoft.com/office/drawing/2014/main" id="{CFBD2892-6024-E741-27A3-262A549DF0C6}"/>
              </a:ext>
            </a:extLst>
          </p:cNvPr>
          <p:cNvSpPr txBox="1"/>
          <p:nvPr/>
        </p:nvSpPr>
        <p:spPr>
          <a:xfrm>
            <a:off x="7231762" y="2073910"/>
            <a:ext cx="869630" cy="239617"/>
          </a:xfrm>
          <a:prstGeom prst="rect">
            <a:avLst/>
          </a:prstGeom>
          <a:noFill/>
        </p:spPr>
        <p:txBody>
          <a:bodyPr wrap="square" rtlCol="0">
            <a:spAutoFit/>
          </a:bodyPr>
          <a:lstStyle/>
          <a:p>
            <a:r>
              <a:rPr lang="en-IN" sz="957" dirty="0">
                <a:latin typeface="Aptos Display" panose="020B0004020202020204" pitchFamily="34" charset="0"/>
              </a:rPr>
              <a:t>VGG16</a:t>
            </a:r>
          </a:p>
        </p:txBody>
      </p:sp>
      <p:sp>
        <p:nvSpPr>
          <p:cNvPr id="49" name="TextBox 48">
            <a:extLst>
              <a:ext uri="{FF2B5EF4-FFF2-40B4-BE49-F238E27FC236}">
                <a16:creationId xmlns:a16="http://schemas.microsoft.com/office/drawing/2014/main" id="{B8C8393D-F370-A707-7405-F30C3EB470F1}"/>
              </a:ext>
            </a:extLst>
          </p:cNvPr>
          <p:cNvSpPr txBox="1"/>
          <p:nvPr/>
        </p:nvSpPr>
        <p:spPr>
          <a:xfrm>
            <a:off x="6949004" y="3482413"/>
            <a:ext cx="869630" cy="239617"/>
          </a:xfrm>
          <a:prstGeom prst="rect">
            <a:avLst/>
          </a:prstGeom>
          <a:solidFill>
            <a:schemeClr val="bg1"/>
          </a:solidFill>
        </p:spPr>
        <p:txBody>
          <a:bodyPr wrap="square" rtlCol="0">
            <a:spAutoFit/>
          </a:bodyPr>
          <a:lstStyle/>
          <a:p>
            <a:r>
              <a:rPr lang="en-IN" sz="957" dirty="0">
                <a:latin typeface="Aptos Display" panose="020B0004020202020204" pitchFamily="34" charset="0"/>
              </a:rPr>
              <a:t>RESNET-50</a:t>
            </a:r>
          </a:p>
        </p:txBody>
      </p:sp>
      <p:sp>
        <p:nvSpPr>
          <p:cNvPr id="52" name="TextBox 51">
            <a:extLst>
              <a:ext uri="{FF2B5EF4-FFF2-40B4-BE49-F238E27FC236}">
                <a16:creationId xmlns:a16="http://schemas.microsoft.com/office/drawing/2014/main" id="{57E0B562-B3AA-9C63-F759-D6D72E9F81EB}"/>
              </a:ext>
            </a:extLst>
          </p:cNvPr>
          <p:cNvSpPr txBox="1"/>
          <p:nvPr/>
        </p:nvSpPr>
        <p:spPr>
          <a:xfrm>
            <a:off x="5226040" y="1711189"/>
            <a:ext cx="858053" cy="534249"/>
          </a:xfrm>
          <a:prstGeom prst="rect">
            <a:avLst/>
          </a:prstGeom>
          <a:solidFill>
            <a:schemeClr val="bg1"/>
          </a:solidFill>
        </p:spPr>
        <p:txBody>
          <a:bodyPr wrap="square" rtlCol="0">
            <a:spAutoFit/>
          </a:bodyPr>
          <a:lstStyle/>
          <a:p>
            <a:pPr algn="ctr"/>
            <a:r>
              <a:rPr lang="en-IN" sz="718" dirty="0">
                <a:latin typeface="Aptos Display" panose="020B0004020202020204" pitchFamily="34" charset="0"/>
              </a:rPr>
              <a:t>DATA</a:t>
            </a:r>
            <a:br>
              <a:rPr lang="en-IN" sz="718" dirty="0">
                <a:latin typeface="Aptos Display" panose="020B0004020202020204" pitchFamily="34" charset="0"/>
              </a:rPr>
            </a:br>
            <a:r>
              <a:rPr lang="en-IN" sz="718" dirty="0">
                <a:latin typeface="Aptos Display" panose="020B0004020202020204" pitchFamily="34" charset="0"/>
              </a:rPr>
              <a:t>(LOW RESOLUTION IMAGES)</a:t>
            </a:r>
          </a:p>
        </p:txBody>
      </p:sp>
      <p:sp>
        <p:nvSpPr>
          <p:cNvPr id="53" name="TextBox 52">
            <a:extLst>
              <a:ext uri="{FF2B5EF4-FFF2-40B4-BE49-F238E27FC236}">
                <a16:creationId xmlns:a16="http://schemas.microsoft.com/office/drawing/2014/main" id="{6C92D48F-8B6A-F7B8-7DCB-4628305429E2}"/>
              </a:ext>
            </a:extLst>
          </p:cNvPr>
          <p:cNvSpPr txBox="1"/>
          <p:nvPr/>
        </p:nvSpPr>
        <p:spPr>
          <a:xfrm>
            <a:off x="5230864" y="3143121"/>
            <a:ext cx="628360" cy="368371"/>
          </a:xfrm>
          <a:prstGeom prst="rect">
            <a:avLst/>
          </a:prstGeom>
          <a:solidFill>
            <a:schemeClr val="bg1"/>
          </a:solidFill>
        </p:spPr>
        <p:txBody>
          <a:bodyPr wrap="square" rtlCol="0">
            <a:spAutoFit/>
          </a:bodyPr>
          <a:lstStyle/>
          <a:p>
            <a:pPr algn="ctr"/>
            <a:r>
              <a:rPr lang="en-IN" sz="598" dirty="0">
                <a:latin typeface="Aptos Display" panose="020B0004020202020204" pitchFamily="34" charset="0"/>
              </a:rPr>
              <a:t>DATA</a:t>
            </a:r>
            <a:br>
              <a:rPr lang="en-IN" sz="598" dirty="0">
                <a:latin typeface="Aptos Display" panose="020B0004020202020204" pitchFamily="34" charset="0"/>
              </a:rPr>
            </a:br>
            <a:r>
              <a:rPr lang="en-IN" sz="598" dirty="0">
                <a:latin typeface="Aptos Display" panose="020B0004020202020204" pitchFamily="34" charset="0"/>
              </a:rPr>
              <a:t>PREPROCESSING</a:t>
            </a:r>
          </a:p>
        </p:txBody>
      </p:sp>
      <p:sp>
        <p:nvSpPr>
          <p:cNvPr id="54" name="TextBox 53">
            <a:extLst>
              <a:ext uri="{FF2B5EF4-FFF2-40B4-BE49-F238E27FC236}">
                <a16:creationId xmlns:a16="http://schemas.microsoft.com/office/drawing/2014/main" id="{47785C8D-1586-332F-905C-50A8A171C5B4}"/>
              </a:ext>
            </a:extLst>
          </p:cNvPr>
          <p:cNvSpPr txBox="1"/>
          <p:nvPr/>
        </p:nvSpPr>
        <p:spPr>
          <a:xfrm>
            <a:off x="5157183" y="3444420"/>
            <a:ext cx="838302" cy="460382"/>
          </a:xfrm>
          <a:prstGeom prst="rect">
            <a:avLst/>
          </a:prstGeom>
          <a:solidFill>
            <a:schemeClr val="bg1"/>
          </a:solidFill>
        </p:spPr>
        <p:txBody>
          <a:bodyPr wrap="square" rtlCol="0">
            <a:spAutoFit/>
          </a:bodyPr>
          <a:lstStyle/>
          <a:p>
            <a:pPr algn="ctr"/>
            <a:r>
              <a:rPr lang="en-IN" sz="598" dirty="0">
                <a:latin typeface="Aptos Display" panose="020B0004020202020204" pitchFamily="34" charset="0"/>
              </a:rPr>
              <a:t>Image Resizing: Resize images to 224x224 pixels</a:t>
            </a:r>
            <a:br>
              <a:rPr lang="en-IN" sz="598" dirty="0">
                <a:latin typeface="Aptos Display" panose="020B0004020202020204" pitchFamily="34" charset="0"/>
              </a:rPr>
            </a:br>
            <a:r>
              <a:rPr lang="en-IN" sz="598" dirty="0">
                <a:latin typeface="Aptos Display" panose="020B0004020202020204" pitchFamily="34" charset="0"/>
              </a:rPr>
              <a:t>Normalization</a:t>
            </a:r>
          </a:p>
        </p:txBody>
      </p:sp>
      <p:sp>
        <p:nvSpPr>
          <p:cNvPr id="55" name="TextBox 54">
            <a:extLst>
              <a:ext uri="{FF2B5EF4-FFF2-40B4-BE49-F238E27FC236}">
                <a16:creationId xmlns:a16="http://schemas.microsoft.com/office/drawing/2014/main" id="{38CAA196-1B55-C27C-0678-534074F9A26F}"/>
              </a:ext>
            </a:extLst>
          </p:cNvPr>
          <p:cNvSpPr txBox="1"/>
          <p:nvPr/>
        </p:nvSpPr>
        <p:spPr>
          <a:xfrm>
            <a:off x="8341449" y="2397179"/>
            <a:ext cx="428504" cy="460382"/>
          </a:xfrm>
          <a:prstGeom prst="rect">
            <a:avLst/>
          </a:prstGeom>
          <a:solidFill>
            <a:schemeClr val="bg1"/>
          </a:solidFill>
        </p:spPr>
        <p:txBody>
          <a:bodyPr wrap="square" rtlCol="0">
            <a:spAutoFit/>
          </a:bodyPr>
          <a:lstStyle/>
          <a:p>
            <a:pPr algn="ctr"/>
            <a:r>
              <a:rPr lang="en-IN" sz="598" dirty="0">
                <a:latin typeface="Aptos Display" panose="020B0004020202020204" pitchFamily="34" charset="0"/>
              </a:rPr>
              <a:t>CLASSIFIER</a:t>
            </a:r>
          </a:p>
          <a:p>
            <a:pPr algn="ctr"/>
            <a:r>
              <a:rPr lang="en-IN" sz="598" dirty="0">
                <a:latin typeface="Aptos Display" panose="020B0004020202020204" pitchFamily="34" charset="0"/>
              </a:rPr>
              <a:t>TRAINING</a:t>
            </a:r>
          </a:p>
        </p:txBody>
      </p:sp>
      <p:sp>
        <p:nvSpPr>
          <p:cNvPr id="56" name="TextBox 55">
            <a:extLst>
              <a:ext uri="{FF2B5EF4-FFF2-40B4-BE49-F238E27FC236}">
                <a16:creationId xmlns:a16="http://schemas.microsoft.com/office/drawing/2014/main" id="{7007D615-8673-C38D-C74F-5DC6890B77C9}"/>
              </a:ext>
            </a:extLst>
          </p:cNvPr>
          <p:cNvSpPr txBox="1"/>
          <p:nvPr/>
        </p:nvSpPr>
        <p:spPr>
          <a:xfrm>
            <a:off x="8247502" y="2687133"/>
            <a:ext cx="628360" cy="736420"/>
          </a:xfrm>
          <a:prstGeom prst="rect">
            <a:avLst/>
          </a:prstGeom>
          <a:solidFill>
            <a:schemeClr val="bg1"/>
          </a:solidFill>
        </p:spPr>
        <p:txBody>
          <a:bodyPr wrap="square" rtlCol="0">
            <a:spAutoFit/>
          </a:bodyPr>
          <a:lstStyle/>
          <a:p>
            <a:pPr algn="ctr"/>
            <a:r>
              <a:rPr lang="en-US" sz="598" dirty="0">
                <a:latin typeface="Aptos Display" panose="020B0004020202020204" pitchFamily="34" charset="0"/>
              </a:rPr>
              <a:t>Support Vector Machine/ Neural Network/ Random Forest </a:t>
            </a:r>
            <a:endParaRPr lang="en-IN" sz="598" dirty="0">
              <a:latin typeface="Aptos Display" panose="020B0004020202020204" pitchFamily="34" charset="0"/>
            </a:endParaRPr>
          </a:p>
        </p:txBody>
      </p:sp>
      <p:sp>
        <p:nvSpPr>
          <p:cNvPr id="57" name="TextBox 56">
            <a:extLst>
              <a:ext uri="{FF2B5EF4-FFF2-40B4-BE49-F238E27FC236}">
                <a16:creationId xmlns:a16="http://schemas.microsoft.com/office/drawing/2014/main" id="{FD52A1C8-CD96-4C46-63B7-BEEEEB0728E4}"/>
              </a:ext>
            </a:extLst>
          </p:cNvPr>
          <p:cNvSpPr txBox="1"/>
          <p:nvPr/>
        </p:nvSpPr>
        <p:spPr>
          <a:xfrm>
            <a:off x="8306692" y="3302751"/>
            <a:ext cx="509981" cy="460382"/>
          </a:xfrm>
          <a:prstGeom prst="rect">
            <a:avLst/>
          </a:prstGeom>
          <a:solidFill>
            <a:schemeClr val="bg1"/>
          </a:solidFill>
        </p:spPr>
        <p:txBody>
          <a:bodyPr wrap="square" rtlCol="0">
            <a:spAutoFit/>
          </a:bodyPr>
          <a:lstStyle/>
          <a:p>
            <a:pPr algn="ctr"/>
            <a:r>
              <a:rPr lang="en-IN" sz="598" dirty="0">
                <a:latin typeface="Aptos Display" panose="020B0004020202020204" pitchFamily="34" charset="0"/>
              </a:rPr>
              <a:t>SKIN CANCER </a:t>
            </a:r>
          </a:p>
          <a:p>
            <a:pPr algn="ctr"/>
            <a:r>
              <a:rPr lang="en-IN" sz="598" dirty="0">
                <a:latin typeface="Aptos Display" panose="020B0004020202020204" pitchFamily="34" charset="0"/>
              </a:rPr>
              <a:t>DETECTION</a:t>
            </a:r>
          </a:p>
        </p:txBody>
      </p:sp>
      <p:sp>
        <p:nvSpPr>
          <p:cNvPr id="60" name="TextBox 59">
            <a:extLst>
              <a:ext uri="{FF2B5EF4-FFF2-40B4-BE49-F238E27FC236}">
                <a16:creationId xmlns:a16="http://schemas.microsoft.com/office/drawing/2014/main" id="{CF203E96-13FB-D742-5E20-2646B98DCB57}"/>
              </a:ext>
            </a:extLst>
          </p:cNvPr>
          <p:cNvSpPr txBox="1"/>
          <p:nvPr/>
        </p:nvSpPr>
        <p:spPr>
          <a:xfrm>
            <a:off x="902178" y="4683999"/>
            <a:ext cx="3457184" cy="2032732"/>
          </a:xfrm>
          <a:prstGeom prst="rect">
            <a:avLst/>
          </a:prstGeom>
          <a:noFill/>
          <a:ln>
            <a:solidFill>
              <a:srgbClr val="A58255"/>
            </a:solidFill>
          </a:ln>
        </p:spPr>
        <p:txBody>
          <a:bodyPr wrap="square" rtlCol="0">
            <a:noAutofit/>
          </a:bodyPr>
          <a:lstStyle/>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p:txBody>
      </p:sp>
      <p:sp>
        <p:nvSpPr>
          <p:cNvPr id="61" name="TextBox 60">
            <a:extLst>
              <a:ext uri="{FF2B5EF4-FFF2-40B4-BE49-F238E27FC236}">
                <a16:creationId xmlns:a16="http://schemas.microsoft.com/office/drawing/2014/main" id="{3183A70F-9585-9390-12E8-DA1E0E94BC71}"/>
              </a:ext>
            </a:extLst>
          </p:cNvPr>
          <p:cNvSpPr txBox="1"/>
          <p:nvPr/>
        </p:nvSpPr>
        <p:spPr>
          <a:xfrm>
            <a:off x="878723" y="7043964"/>
            <a:ext cx="3562202" cy="1604637"/>
          </a:xfrm>
          <a:prstGeom prst="rect">
            <a:avLst/>
          </a:prstGeom>
          <a:noFill/>
          <a:ln>
            <a:solidFill>
              <a:srgbClr val="A58255"/>
            </a:solidFill>
          </a:ln>
        </p:spPr>
        <p:txBody>
          <a:bodyPr wrap="square" rtlCol="0">
            <a:noAutofit/>
          </a:bodyPr>
          <a:lstStyle/>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a:p>
            <a:endParaRPr lang="en-US" sz="1132" dirty="0"/>
          </a:p>
        </p:txBody>
      </p:sp>
      <p:pic>
        <p:nvPicPr>
          <p:cNvPr id="22" name="Picture 21">
            <a:extLst>
              <a:ext uri="{FF2B5EF4-FFF2-40B4-BE49-F238E27FC236}">
                <a16:creationId xmlns:a16="http://schemas.microsoft.com/office/drawing/2014/main" id="{4C7F6489-B9CD-E555-18FC-F03058115835}"/>
              </a:ext>
            </a:extLst>
          </p:cNvPr>
          <p:cNvPicPr>
            <a:picLocks noChangeAspect="1"/>
          </p:cNvPicPr>
          <p:nvPr/>
        </p:nvPicPr>
        <p:blipFill>
          <a:blip r:embed="rId12"/>
          <a:stretch>
            <a:fillRect/>
          </a:stretch>
        </p:blipFill>
        <p:spPr>
          <a:xfrm>
            <a:off x="4982175" y="1712515"/>
            <a:ext cx="4040362" cy="2272704"/>
          </a:xfrm>
          <a:prstGeom prst="rect">
            <a:avLst/>
          </a:prstGeom>
        </p:spPr>
      </p:pic>
      <p:graphicFrame>
        <p:nvGraphicFramePr>
          <p:cNvPr id="32" name="Table 31">
            <a:extLst>
              <a:ext uri="{FF2B5EF4-FFF2-40B4-BE49-F238E27FC236}">
                <a16:creationId xmlns:a16="http://schemas.microsoft.com/office/drawing/2014/main" id="{C9C9CDF6-BA6F-8DD4-C8FC-3D13E4BB7639}"/>
              </a:ext>
            </a:extLst>
          </p:cNvPr>
          <p:cNvGraphicFramePr>
            <a:graphicFrameLocks noGrp="1"/>
          </p:cNvGraphicFramePr>
          <p:nvPr>
            <p:extLst>
              <p:ext uri="{D42A27DB-BD31-4B8C-83A1-F6EECF244321}">
                <p14:modId xmlns:p14="http://schemas.microsoft.com/office/powerpoint/2010/main" val="4137205290"/>
              </p:ext>
            </p:extLst>
          </p:nvPr>
        </p:nvGraphicFramePr>
        <p:xfrm>
          <a:off x="5175397" y="8105986"/>
          <a:ext cx="3700465" cy="1562456"/>
        </p:xfrm>
        <a:graphic>
          <a:graphicData uri="http://schemas.openxmlformats.org/drawingml/2006/table">
            <a:tbl>
              <a:tblPr firstRow="1" firstCol="1" bandRow="1">
                <a:tableStyleId>{5DA37D80-6434-44D0-A028-1B22A696006F}</a:tableStyleId>
              </a:tblPr>
              <a:tblGrid>
                <a:gridCol w="1543406">
                  <a:extLst>
                    <a:ext uri="{9D8B030D-6E8A-4147-A177-3AD203B41FA5}">
                      <a16:colId xmlns:a16="http://schemas.microsoft.com/office/drawing/2014/main" val="2159010399"/>
                    </a:ext>
                  </a:extLst>
                </a:gridCol>
                <a:gridCol w="700027">
                  <a:extLst>
                    <a:ext uri="{9D8B030D-6E8A-4147-A177-3AD203B41FA5}">
                      <a16:colId xmlns:a16="http://schemas.microsoft.com/office/drawing/2014/main" val="2317834748"/>
                    </a:ext>
                  </a:extLst>
                </a:gridCol>
                <a:gridCol w="728516">
                  <a:extLst>
                    <a:ext uri="{9D8B030D-6E8A-4147-A177-3AD203B41FA5}">
                      <a16:colId xmlns:a16="http://schemas.microsoft.com/office/drawing/2014/main" val="2978384780"/>
                    </a:ext>
                  </a:extLst>
                </a:gridCol>
                <a:gridCol w="728516">
                  <a:extLst>
                    <a:ext uri="{9D8B030D-6E8A-4147-A177-3AD203B41FA5}">
                      <a16:colId xmlns:a16="http://schemas.microsoft.com/office/drawing/2014/main" val="2923814456"/>
                    </a:ext>
                  </a:extLst>
                </a:gridCol>
              </a:tblGrid>
              <a:tr h="259689">
                <a:tc rowSpan="2">
                  <a:txBody>
                    <a:bodyPr/>
                    <a:lstStyle/>
                    <a:p>
                      <a:pPr algn="ctr">
                        <a:lnSpc>
                          <a:spcPct val="150000"/>
                        </a:lnSpc>
                        <a:spcAft>
                          <a:spcPts val="1000"/>
                        </a:spcAft>
                        <a:buNone/>
                      </a:pPr>
                      <a:r>
                        <a:rPr lang="en-IN" sz="800" dirty="0">
                          <a:effectLst/>
                        </a:rPr>
                        <a:t> </a:t>
                      </a:r>
                    </a:p>
                    <a:p>
                      <a:pPr algn="ctr">
                        <a:lnSpc>
                          <a:spcPct val="150000"/>
                        </a:lnSpc>
                        <a:spcAft>
                          <a:spcPts val="1000"/>
                        </a:spcAft>
                        <a:buNone/>
                      </a:pPr>
                      <a:r>
                        <a:rPr lang="en-IN" sz="800" dirty="0">
                          <a:effectLst/>
                        </a:rPr>
                        <a:t>Dimensionality Reduction Technique</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lnSpc>
                          <a:spcPct val="150000"/>
                        </a:lnSpc>
                        <a:spcAft>
                          <a:spcPts val="1000"/>
                        </a:spcAft>
                        <a:buNone/>
                      </a:pPr>
                      <a:r>
                        <a:rPr lang="en-IN" sz="800">
                          <a:effectLst/>
                        </a:rPr>
                        <a:t>Accuracy (%)</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2602925"/>
                  </a:ext>
                </a:extLst>
              </a:tr>
              <a:tr h="491756">
                <a:tc vMerge="1">
                  <a:txBody>
                    <a:bodyPr/>
                    <a:lstStyle/>
                    <a:p>
                      <a:endParaRPr lang="en-IN"/>
                    </a:p>
                  </a:txBody>
                  <a:tcPr/>
                </a:tc>
                <a:tc>
                  <a:txBody>
                    <a:bodyPr/>
                    <a:lstStyle/>
                    <a:p>
                      <a:pPr algn="ctr">
                        <a:lnSpc>
                          <a:spcPct val="150000"/>
                        </a:lnSpc>
                        <a:spcAft>
                          <a:spcPts val="1000"/>
                        </a:spcAft>
                        <a:buNone/>
                      </a:pPr>
                      <a:r>
                        <a:rPr lang="en-IN" sz="800" dirty="0">
                          <a:effectLst/>
                        </a:rPr>
                        <a:t>SVM</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a:effectLst/>
                        </a:rPr>
                        <a:t>Random Forest</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a:effectLst/>
                        </a:rPr>
                        <a:t>Neural Network</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0926167"/>
                  </a:ext>
                </a:extLst>
              </a:tr>
              <a:tr h="196911">
                <a:tc>
                  <a:txBody>
                    <a:bodyPr/>
                    <a:lstStyle/>
                    <a:p>
                      <a:pPr algn="ctr">
                        <a:lnSpc>
                          <a:spcPct val="150000"/>
                        </a:lnSpc>
                        <a:spcAft>
                          <a:spcPts val="1000"/>
                        </a:spcAft>
                        <a:buNone/>
                      </a:pPr>
                      <a:r>
                        <a:rPr lang="en-US" sz="800" b="0">
                          <a:effectLst/>
                        </a:rPr>
                        <a:t>No Dimensionality Reduction</a:t>
                      </a:r>
                      <a:endParaRPr lang="en-IN" sz="800" b="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78.61</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78.61</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a:effectLst/>
                        </a:rPr>
                        <a:t>79.24</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0551770"/>
                  </a:ext>
                </a:extLst>
              </a:tr>
              <a:tr h="232972">
                <a:tc>
                  <a:txBody>
                    <a:bodyPr/>
                    <a:lstStyle/>
                    <a:p>
                      <a:pPr algn="ctr">
                        <a:lnSpc>
                          <a:spcPct val="150000"/>
                        </a:lnSpc>
                        <a:spcAft>
                          <a:spcPts val="1000"/>
                        </a:spcAft>
                        <a:buNone/>
                      </a:pPr>
                      <a:r>
                        <a:rPr lang="en-IN" sz="800" b="0">
                          <a:effectLst/>
                        </a:rPr>
                        <a:t>PCA</a:t>
                      </a:r>
                      <a:endParaRPr lang="en-IN" sz="800" b="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77.35</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77.35</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a:effectLst/>
                        </a:rPr>
                        <a:t>76.10</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106661"/>
                  </a:ext>
                </a:extLst>
              </a:tr>
              <a:tr h="196911">
                <a:tc>
                  <a:txBody>
                    <a:bodyPr/>
                    <a:lstStyle/>
                    <a:p>
                      <a:pPr algn="ctr">
                        <a:lnSpc>
                          <a:spcPct val="150000"/>
                        </a:lnSpc>
                        <a:spcAft>
                          <a:spcPts val="1000"/>
                        </a:spcAft>
                        <a:buNone/>
                      </a:pPr>
                      <a:r>
                        <a:rPr lang="en-IN" sz="800" b="0">
                          <a:effectLst/>
                        </a:rPr>
                        <a:t>UMAP</a:t>
                      </a:r>
                      <a:endParaRPr lang="en-IN" sz="800" b="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a:effectLst/>
                        </a:rPr>
                        <a:t>69.81</a:t>
                      </a:r>
                      <a:endParaRPr lang="en-IN" sz="80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74.21</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72.32</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874935"/>
                  </a:ext>
                </a:extLst>
              </a:tr>
              <a:tr h="184217">
                <a:tc>
                  <a:txBody>
                    <a:bodyPr/>
                    <a:lstStyle/>
                    <a:p>
                      <a:pPr algn="ctr">
                        <a:lnSpc>
                          <a:spcPct val="150000"/>
                        </a:lnSpc>
                        <a:spcAft>
                          <a:spcPts val="1000"/>
                        </a:spcAft>
                        <a:buNone/>
                      </a:pPr>
                      <a:r>
                        <a:rPr lang="en-IN" sz="800" b="0" dirty="0">
                          <a:effectLst/>
                        </a:rPr>
                        <a:t>LDA</a:t>
                      </a:r>
                      <a:endParaRPr lang="en-IN" sz="800" b="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highlight>
                            <a:srgbClr val="FFFF00"/>
                          </a:highlight>
                        </a:rPr>
                        <a:t>91.8</a:t>
                      </a:r>
                      <a:endParaRPr lang="en-IN" sz="800" dirty="0">
                        <a:effectLst/>
                        <a:highlight>
                          <a:srgbClr val="FFFF00"/>
                        </a:highligh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84.27</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en-IN" sz="800" dirty="0">
                          <a:effectLst/>
                        </a:rPr>
                        <a:t>91.19</a:t>
                      </a:r>
                      <a:endParaRPr lang="en-IN" sz="800" dirty="0">
                        <a:effectLst/>
                        <a:latin typeface="Aptos Display" panose="020B0004020202020204" pitchFamily="34" charset="0"/>
                        <a:ea typeface="Calibri" panose="020F0502020204030204" pitchFamily="34" charset="0"/>
                        <a:cs typeface="Gautami" panose="020B0502040204020203" pitchFamily="34" charset="0"/>
                      </a:endParaRPr>
                    </a:p>
                  </a:txBody>
                  <a:tcPr marL="20511" marR="205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1697"/>
                  </a:ext>
                </a:extLst>
              </a:tr>
            </a:tbl>
          </a:graphicData>
        </a:graphic>
      </p:graphicFrame>
      <p:sp>
        <p:nvSpPr>
          <p:cNvPr id="41" name="TextBox 40">
            <a:extLst>
              <a:ext uri="{FF2B5EF4-FFF2-40B4-BE49-F238E27FC236}">
                <a16:creationId xmlns:a16="http://schemas.microsoft.com/office/drawing/2014/main" id="{045F3CC9-33FA-B373-1742-BD930631C5FF}"/>
              </a:ext>
            </a:extLst>
          </p:cNvPr>
          <p:cNvSpPr txBox="1"/>
          <p:nvPr/>
        </p:nvSpPr>
        <p:spPr>
          <a:xfrm>
            <a:off x="5240362" y="9665338"/>
            <a:ext cx="3539089" cy="386901"/>
          </a:xfrm>
          <a:prstGeom prst="rect">
            <a:avLst/>
          </a:prstGeom>
          <a:noFill/>
        </p:spPr>
        <p:txBody>
          <a:bodyPr wrap="square" rtlCol="0">
            <a:spAutoFit/>
          </a:bodyPr>
          <a:lstStyle/>
          <a:p>
            <a:pPr algn="ctr"/>
            <a:r>
              <a:rPr lang="en-US" sz="957" dirty="0">
                <a:latin typeface="Aptos Display" panose="020B0004020202020204" pitchFamily="34" charset="0"/>
                <a:ea typeface="Times New Roman" panose="02020603050405020304" pitchFamily="18" charset="0"/>
              </a:rPr>
              <a:t>Classification Accuracy with ResNet50 + Autoencoder Features Across Dimensionality Reduction Techniques</a:t>
            </a:r>
            <a:endParaRPr lang="en-IN" sz="957" dirty="0">
              <a:latin typeface="Aptos Display" panose="020B0004020202020204" pitchFamily="34" charset="0"/>
            </a:endParaRPr>
          </a:p>
        </p:txBody>
      </p:sp>
      <p:sp>
        <p:nvSpPr>
          <p:cNvPr id="51" name="TextBox 50">
            <a:extLst>
              <a:ext uri="{FF2B5EF4-FFF2-40B4-BE49-F238E27FC236}">
                <a16:creationId xmlns:a16="http://schemas.microsoft.com/office/drawing/2014/main" id="{7D8C1D11-3BA2-3DAF-DEBB-15A1BB7A9090}"/>
              </a:ext>
            </a:extLst>
          </p:cNvPr>
          <p:cNvSpPr txBox="1"/>
          <p:nvPr/>
        </p:nvSpPr>
        <p:spPr>
          <a:xfrm>
            <a:off x="5175397" y="7747745"/>
            <a:ext cx="3539089" cy="386901"/>
          </a:xfrm>
          <a:prstGeom prst="rect">
            <a:avLst/>
          </a:prstGeom>
          <a:noFill/>
        </p:spPr>
        <p:txBody>
          <a:bodyPr wrap="square" rtlCol="0">
            <a:spAutoFit/>
          </a:bodyPr>
          <a:lstStyle/>
          <a:p>
            <a:pPr algn="ctr"/>
            <a:r>
              <a:rPr lang="en-US" sz="957" dirty="0">
                <a:latin typeface="Aptos Display" panose="020B0004020202020204" pitchFamily="34" charset="0"/>
              </a:rPr>
              <a:t>Accuracy of Classifiers Using Feature Extracted from Deep Learning Models </a:t>
            </a:r>
            <a:endParaRPr lang="en-IN" sz="957" dirty="0">
              <a:latin typeface="Aptos Display"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Poster_Template new</Template>
  <TotalTime>192</TotalTime>
  <Words>576</Words>
  <Application>Microsoft Office PowerPoint</Application>
  <PresentationFormat>A3 Paper (297x420 mm)</PresentationFormat>
  <Paragraphs>121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Times New Roman</vt:lpstr>
      <vt:lpstr>Arial</vt:lpstr>
      <vt:lpstr>Aptos Display</vt:lpstr>
      <vt:lpstr>Inter</vt:lpstr>
      <vt:lpstr>Calibri</vt:lpstr>
      <vt:lpstr>Plus Jakarta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Meghana Mutyala</dc:creator>
  <cp:lastModifiedBy>Meghana Mutyala</cp:lastModifiedBy>
  <cp:revision>1</cp:revision>
  <dcterms:created xsi:type="dcterms:W3CDTF">2024-11-27T06:14:59Z</dcterms:created>
  <dcterms:modified xsi:type="dcterms:W3CDTF">2025-03-27T05:59:26Z</dcterms:modified>
</cp:coreProperties>
</file>